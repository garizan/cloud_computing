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8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246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Здравствуйте. Тема моей презентации — «Облачные технологии в образовании».
В своей презентации я расскажу о том, что такое облачные технологии, как они используются в образовательном процессе, какие преимущества они дают студентам и преподавателям, а также рассмотрю основные недостатки и перспективы их развития.</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Сегодня образование всё больше переходит в цифровую среду. Студентам уже не обязательно находиться в университете, чтобы получить учебные материалы или выполнить задание.
Документы, презентации, учебные курсы и другие материалы могут храниться в облаке и быть доступны через Интернет.
Кроме того, студенты и преподаватели могут совместно работать над документами, проводить видеоконференции и использовать онлайн-платформы.
Поэтому облачные технологии стали важной частью современной образовательной инфраструктуры. Научные обзоры также отмечают такие преимущества облака для образования, как доступность, масштабируемость, совместная работа и снижение затрат на инфраструктуру.</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начала определим, что такое облачные технологии.
Облачные технологии позволяют использовать вычислительные ресурсы, хранение данных, программы и различные сервисы через Интернет.
Например, если мы сохраняем файл в Google Drive, он находится не только на нашем компьютере. Мы можем получить доступ к нему через Интернет с другого компьютера или смартфона.
В образовании этот принцип используется для хранения учебных материалов, проведения занятий, совместной работы и организации электронного обучения.
То есть вместо того, чтобы всё хранить и запускать только на собственном компьютере или сервере университета, часть ресурсов предоставляется через облачную инфраструктуру.</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Облачные технологии используются практически на всех этапах обучения.
Например, Google Drive и OneDrive позволяют хранить учебные файлы.
Google Docs и Microsoft 365 позволяют нескольким людям одновременно работать над одним документом.
Системы управления обучением, например Moodle, используются для размещения курсов, заданий и учебных материалов.
Microsoft Teams и Zoom позволяют проводить онлайн-занятия и видеоконференции.
Облако также используется в научных исследованиях и программировании, когда требуется большое количество вычислительных ресурсов.
Таким образом, облако может объединять хранение, обучение, коммуникацию и вычисления в одной цифровой среде. Обзор исследований в этой области отдельно отмечает LMS, совместную работу и виртуальные лаборатории как важные направления применения облака в образовании.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Рассмотрим основные преимущества.
Первое — доступность. Студент может получить доступ к своим материалам практически из любого места, где есть Интернет.
Второе — совместная работа. Несколько студентов могут одновременно работать над одним документом или проектом.
Третье — экономия. Университету не всегда необходимо самостоятельно покупать большое количество серверов и поддерживать всю инфраструктуру.
Четвёртое — масштабируемость. Если количество пользователей увеличивается, облачные ресурсы можно расширять.
И последнее — автоматические обновления. Многие облачные сервисы обновляются непосредственно провайдером, поэтому пользователю не нужно самостоятельно устанавливать каждое обновление.
Именно гибкость, масштабируемость, доступность и экономия ресурсов часто выделяются как ключевые преимущества облака для образования.</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рассмотрим простую схему работы облачной образовательной системы.
В центре находится облачная платформа. На ней могут храниться учебные материалы, задания, файлы, оценки и другая информация.
Преподаватель размещает материалы или создаёт задание.
Студент через Интернет получает к ним доступ, выполняет работу и отправляет результат обратно.
После этого преподаватель может проверить работу и оставить комментарии.
При этом и студент, и преподаватель могут использовать разные устройства — компьютер, ноутбук, планшет или смартфон.
Такой подход позволяет организовать учебный процесс без необходимости постоянно обмениваться файлами через флешки или электронную почту.</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Рассмотрим обычную ситуацию из жизни студента.
Преподаватель размещает лабораторную работу в электронной образовательной системе.
Студент получает доступ к заданию, выполняет его и загружает готовый файл в облако.
Преподаватель открывает работу, проверяет её и оставляет оценку или комментарий.
Студент после этого может увидеть результат.
Весь процесс проходит через Интернет и не требует физической передачи файлов.
Более сложный вариант — виртуальная лаборатория, где студент получает удалённую виртуальную машину с уже установленным программным обеспечением. Такие сценарии также рассматриваются в исследованиях применения облака в образовании.</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Несмотря на большое количество преимуществ, у облачных технологий есть и недостатки.
Главная проблема — зависимость от Интернета. Если соединение отсутствует, доступ к некоторым сервисам может быть ограничен.
Также важна безопасность данных. В образовательных системах хранится информация о студентах, преподавателях и учебном процессе.
Ещё одна проблема — зависимость от поставщика облачного сервиса. Если сервис временно недоступен или меняются его условия, это может повлиять на работу образовательной организации.
Поэтому при использовании облачных технологий необходимо уделять внимание защите данных, резервному копированию и контролю доступа.
Исследования также выделяют безопасность, производительность и совместимость как важные риски при внедрении облака в образовательной сфере.</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будущем роль облачных технологий в образовании, вероятно, будет продолжать расти.
Одним из важных направлений является использование искусственного интеллекта для создания персонализированного обучения и анализа результатов студентов.
Также перспективными являются виртуальные и дополненные реальности, которые могут использоваться для создания интерактивных занятий.
Ещё одно направление — виртуальные лаборатории. Студент сможет выполнять практические задания в удалённой виртуальной среде, не имея дорогостоящего оборудования у себя дома.
Кроме того, облачные системы могут использовать большие объёмы данных для анализа успеваемости и определения того, какие темы вызывают у студентов наибольшие трудности.
Современные исследования также рассматривают масштабируемость и эффективность облачной инфраструктуры как важные направления развития образовательных учреждений.</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заключение можно сказать, что облачные технологии стали важной частью современной системы образования.
Они позволяют получать доступ к учебным материалам из разных мест, организовывать совместную работу студентов и преподавателей, хранить большие объёмы данных и использовать современные онлайн-сервисы.
При этом нельзя забывать о безопасности, конфиденциальности и зависимости от Интернет-соединения.
В целом облачные технологии позволяют сделать образовательный процесс более гибким, доступным и технологичным.
Спасибо за внимание. Я готов ответить на ваши вопросы.</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138160" y="1028700"/>
            <a:ext cx="1783080" cy="1234440"/>
          </a:xfrm>
          <a:prstGeom prst="ellipse">
            <a:avLst/>
          </a:prstGeom>
          <a:solidFill>
            <a:srgbClr val="1C7293">
              <a:alpha val="45000"/>
            </a:srgbClr>
          </a:solidFill>
          <a:ln/>
        </p:spPr>
      </p:sp>
      <p:sp>
        <p:nvSpPr>
          <p:cNvPr id="3" name="Shape 1"/>
          <p:cNvSpPr/>
          <p:nvPr/>
        </p:nvSpPr>
        <p:spPr>
          <a:xfrm>
            <a:off x="8892540" y="548640"/>
            <a:ext cx="2057400" cy="1577340"/>
          </a:xfrm>
          <a:prstGeom prst="ellipse">
            <a:avLst/>
          </a:prstGeom>
          <a:solidFill>
            <a:srgbClr val="1C7293">
              <a:alpha val="45000"/>
            </a:srgbClr>
          </a:solidFill>
          <a:ln/>
        </p:spPr>
      </p:sp>
      <p:sp>
        <p:nvSpPr>
          <p:cNvPr id="4" name="Shape 2"/>
          <p:cNvSpPr/>
          <p:nvPr/>
        </p:nvSpPr>
        <p:spPr>
          <a:xfrm>
            <a:off x="9989820" y="960120"/>
            <a:ext cx="1645920" cy="1165860"/>
          </a:xfrm>
          <a:prstGeom prst="ellipse">
            <a:avLst/>
          </a:prstGeom>
          <a:solidFill>
            <a:srgbClr val="1C7293">
              <a:alpha val="45000"/>
            </a:srgbClr>
          </a:solidFill>
          <a:ln/>
        </p:spPr>
      </p:sp>
      <p:sp>
        <p:nvSpPr>
          <p:cNvPr id="5" name="Shape 3"/>
          <p:cNvSpPr/>
          <p:nvPr/>
        </p:nvSpPr>
        <p:spPr>
          <a:xfrm>
            <a:off x="8343900" y="1303020"/>
            <a:ext cx="3017520" cy="891540"/>
          </a:xfrm>
          <a:prstGeom prst="roundRect">
            <a:avLst>
              <a:gd name="adj" fmla="val 15385"/>
            </a:avLst>
          </a:prstGeom>
          <a:solidFill>
            <a:srgbClr val="1C7293">
              <a:alpha val="45000"/>
            </a:srgbClr>
          </a:solidFill>
          <a:ln/>
        </p:spPr>
      </p:sp>
      <p:sp>
        <p:nvSpPr>
          <p:cNvPr id="6" name="Shape 4"/>
          <p:cNvSpPr/>
          <p:nvPr/>
        </p:nvSpPr>
        <p:spPr>
          <a:xfrm>
            <a:off x="9509760" y="3611880"/>
            <a:ext cx="1188720" cy="822960"/>
          </a:xfrm>
          <a:prstGeom prst="ellipse">
            <a:avLst/>
          </a:prstGeom>
          <a:solidFill>
            <a:srgbClr val="065A82">
              <a:alpha val="55000"/>
            </a:srgbClr>
          </a:solidFill>
          <a:ln/>
        </p:spPr>
      </p:sp>
      <p:sp>
        <p:nvSpPr>
          <p:cNvPr id="7" name="Shape 5"/>
          <p:cNvSpPr/>
          <p:nvPr/>
        </p:nvSpPr>
        <p:spPr>
          <a:xfrm>
            <a:off x="10012680" y="3291840"/>
            <a:ext cx="1371600" cy="1051560"/>
          </a:xfrm>
          <a:prstGeom prst="ellipse">
            <a:avLst/>
          </a:prstGeom>
          <a:solidFill>
            <a:srgbClr val="065A82">
              <a:alpha val="55000"/>
            </a:srgbClr>
          </a:solidFill>
          <a:ln/>
        </p:spPr>
      </p:sp>
      <p:sp>
        <p:nvSpPr>
          <p:cNvPr id="8" name="Shape 6"/>
          <p:cNvSpPr/>
          <p:nvPr/>
        </p:nvSpPr>
        <p:spPr>
          <a:xfrm>
            <a:off x="10744200" y="3566160"/>
            <a:ext cx="1097280" cy="777240"/>
          </a:xfrm>
          <a:prstGeom prst="ellipse">
            <a:avLst/>
          </a:prstGeom>
          <a:solidFill>
            <a:srgbClr val="065A82">
              <a:alpha val="55000"/>
            </a:srgbClr>
          </a:solidFill>
          <a:ln/>
        </p:spPr>
      </p:sp>
      <p:sp>
        <p:nvSpPr>
          <p:cNvPr id="9" name="Shape 7"/>
          <p:cNvSpPr/>
          <p:nvPr/>
        </p:nvSpPr>
        <p:spPr>
          <a:xfrm>
            <a:off x="9646920" y="3794760"/>
            <a:ext cx="2011680" cy="594360"/>
          </a:xfrm>
          <a:prstGeom prst="roundRect">
            <a:avLst>
              <a:gd name="adj" fmla="val 23077"/>
            </a:avLst>
          </a:prstGeom>
          <a:solidFill>
            <a:srgbClr val="065A82">
              <a:alpha val="55000"/>
            </a:srgbClr>
          </a:solidFill>
          <a:ln/>
        </p:spPr>
      </p:sp>
      <p:sp>
        <p:nvSpPr>
          <p:cNvPr id="10" name="Shape 8"/>
          <p:cNvSpPr/>
          <p:nvPr/>
        </p:nvSpPr>
        <p:spPr>
          <a:xfrm>
            <a:off x="274320" y="5472684"/>
            <a:ext cx="1307592" cy="905256"/>
          </a:xfrm>
          <a:prstGeom prst="ellipse">
            <a:avLst/>
          </a:prstGeom>
          <a:solidFill>
            <a:srgbClr val="1C7293">
              <a:alpha val="45000"/>
            </a:srgbClr>
          </a:solidFill>
          <a:ln/>
        </p:spPr>
      </p:sp>
      <p:sp>
        <p:nvSpPr>
          <p:cNvPr id="11" name="Shape 9"/>
          <p:cNvSpPr/>
          <p:nvPr/>
        </p:nvSpPr>
        <p:spPr>
          <a:xfrm>
            <a:off x="827532" y="5120640"/>
            <a:ext cx="1508760" cy="1156716"/>
          </a:xfrm>
          <a:prstGeom prst="ellipse">
            <a:avLst/>
          </a:prstGeom>
          <a:solidFill>
            <a:srgbClr val="1C7293">
              <a:alpha val="45000"/>
            </a:srgbClr>
          </a:solidFill>
          <a:ln/>
        </p:spPr>
      </p:sp>
      <p:sp>
        <p:nvSpPr>
          <p:cNvPr id="12" name="Shape 10"/>
          <p:cNvSpPr/>
          <p:nvPr/>
        </p:nvSpPr>
        <p:spPr>
          <a:xfrm>
            <a:off x="1632204" y="5422392"/>
            <a:ext cx="1207008" cy="854964"/>
          </a:xfrm>
          <a:prstGeom prst="ellipse">
            <a:avLst/>
          </a:prstGeom>
          <a:solidFill>
            <a:srgbClr val="1C7293">
              <a:alpha val="45000"/>
            </a:srgbClr>
          </a:solidFill>
          <a:ln/>
        </p:spPr>
      </p:sp>
      <p:sp>
        <p:nvSpPr>
          <p:cNvPr id="13" name="Shape 11"/>
          <p:cNvSpPr/>
          <p:nvPr/>
        </p:nvSpPr>
        <p:spPr>
          <a:xfrm>
            <a:off x="425196" y="5673852"/>
            <a:ext cx="2212848" cy="653796"/>
          </a:xfrm>
          <a:prstGeom prst="roundRect">
            <a:avLst>
              <a:gd name="adj" fmla="val 20979"/>
            </a:avLst>
          </a:prstGeom>
          <a:solidFill>
            <a:srgbClr val="1C7293">
              <a:alpha val="45000"/>
            </a:srgbClr>
          </a:solidFill>
          <a:ln/>
        </p:spPr>
      </p:sp>
      <p:sp>
        <p:nvSpPr>
          <p:cNvPr id="14" name="Text 12"/>
          <p:cNvSpPr txBox="1"/>
          <p:nvPr/>
        </p:nvSpPr>
        <p:spPr>
          <a:xfrm>
            <a:off x="822960" y="2331720"/>
            <a:ext cx="9601200" cy="1554480"/>
          </a:xfrm>
          <a:prstGeom prst="rect">
            <a:avLst/>
          </a:prstGeom>
          <a:noFill/>
          <a:ln/>
        </p:spPr>
        <p:txBody>
          <a:bodyPr wrap="square" lIns="0" tIns="0" rIns="0" bIns="0" rtlCol="0" anchor="ctr"/>
          <a:lstStyle/>
          <a:p>
            <a:pPr marL="0" indent="0" algn="l">
              <a:lnSpc>
                <a:spcPct val="105000"/>
              </a:lnSpc>
              <a:buNone/>
            </a:pPr>
            <a:r>
              <a:rPr lang="en-US" sz="4200" b="1" dirty="0">
                <a:solidFill>
                  <a:srgbClr val="FFFFFF"/>
                </a:solidFill>
                <a:latin typeface="Cambria" pitchFamily="34" charset="0"/>
                <a:ea typeface="Cambria" pitchFamily="34" charset="-122"/>
                <a:cs typeface="Cambria" pitchFamily="34" charset="-120"/>
              </a:rPr>
              <a:t>ОБЛАЧНЫЕ ТЕХНОЛОГИИ</a:t>
            </a:r>
            <a:endParaRPr lang="en-US" sz="4200" dirty="0"/>
          </a:p>
          <a:p>
            <a:pPr marL="0" indent="0" algn="l">
              <a:lnSpc>
                <a:spcPct val="105000"/>
              </a:lnSpc>
              <a:buNone/>
            </a:pPr>
            <a:r>
              <a:rPr lang="en-US" sz="4200" b="1" dirty="0">
                <a:solidFill>
                  <a:srgbClr val="FFFFFF"/>
                </a:solidFill>
                <a:latin typeface="Cambria" pitchFamily="34" charset="0"/>
                <a:ea typeface="Cambria" pitchFamily="34" charset="-122"/>
                <a:cs typeface="Cambria" pitchFamily="34" charset="-120"/>
              </a:rPr>
              <a:t>В ОБРАЗОВАНИИ</a:t>
            </a:r>
            <a:endParaRPr lang="en-US" sz="4200" dirty="0"/>
          </a:p>
        </p:txBody>
      </p:sp>
      <p:sp>
        <p:nvSpPr>
          <p:cNvPr id="15" name="Shape 13"/>
          <p:cNvSpPr/>
          <p:nvPr/>
        </p:nvSpPr>
        <p:spPr>
          <a:xfrm>
            <a:off x="868680" y="3977640"/>
            <a:ext cx="2194560" cy="41148"/>
          </a:xfrm>
          <a:prstGeom prst="rect">
            <a:avLst/>
          </a:prstGeom>
          <a:solidFill>
            <a:srgbClr val="1C7293"/>
          </a:solidFill>
          <a:ln/>
        </p:spPr>
      </p:sp>
      <p:sp>
        <p:nvSpPr>
          <p:cNvPr id="16" name="Text 14"/>
          <p:cNvSpPr txBox="1"/>
          <p:nvPr/>
        </p:nvSpPr>
        <p:spPr>
          <a:xfrm>
            <a:off x="822960" y="4251961"/>
            <a:ext cx="5486400" cy="315468"/>
          </a:xfrm>
          <a:prstGeom prst="rect">
            <a:avLst/>
          </a:prstGeom>
          <a:noFill/>
          <a:ln/>
        </p:spPr>
        <p:txBody>
          <a:bodyPr wrap="square" lIns="0" tIns="0" rIns="0" bIns="0" rtlCol="0" anchor="ctr"/>
          <a:lstStyle/>
          <a:p>
            <a:pPr marL="0" indent="0">
              <a:buNone/>
            </a:pPr>
            <a:r>
              <a:rPr lang="en-US" sz="1600" dirty="0" err="1">
                <a:solidFill>
                  <a:srgbClr val="CFE8F3"/>
                </a:solidFill>
                <a:latin typeface="Calibri" pitchFamily="34" charset="0"/>
                <a:ea typeface="Calibri" pitchFamily="34" charset="-122"/>
                <a:cs typeface="Calibri" pitchFamily="34" charset="-120"/>
              </a:rPr>
              <a:t>Подготовил</a:t>
            </a:r>
            <a:r>
              <a:rPr lang="ru-RU" sz="1600" dirty="0">
                <a:solidFill>
                  <a:srgbClr val="CFE8F3"/>
                </a:solidFill>
                <a:latin typeface="Calibri" pitchFamily="34" charset="0"/>
                <a:ea typeface="Calibri" pitchFamily="34" charset="-122"/>
                <a:cs typeface="Calibri" pitchFamily="34" charset="-120"/>
              </a:rPr>
              <a:t>и</a:t>
            </a:r>
            <a:r>
              <a:rPr lang="en-US" sz="1600" dirty="0">
                <a:solidFill>
                  <a:srgbClr val="CFE8F3"/>
                </a:solidFill>
                <a:latin typeface="Calibri" pitchFamily="34" charset="0"/>
                <a:ea typeface="Calibri" pitchFamily="34" charset="-122"/>
                <a:cs typeface="Calibri" pitchFamily="34" charset="-120"/>
              </a:rPr>
              <a:t>:</a:t>
            </a:r>
            <a:r>
              <a:rPr lang="ru-RU" sz="1600" dirty="0">
                <a:solidFill>
                  <a:srgbClr val="CFE8F3"/>
                </a:solidFill>
                <a:latin typeface="Calibri" pitchFamily="34" charset="0"/>
                <a:ea typeface="Calibri" pitchFamily="34" charset="-122"/>
                <a:cs typeface="Calibri" pitchFamily="34" charset="-120"/>
              </a:rPr>
              <a:t> </a:t>
            </a:r>
            <a:r>
              <a:rPr lang="ru-RU" sz="1600" dirty="0" err="1">
                <a:solidFill>
                  <a:srgbClr val="CFE8F3"/>
                </a:solidFill>
                <a:latin typeface="Calibri" pitchFamily="34" charset="0"/>
                <a:ea typeface="Calibri" pitchFamily="34" charset="-122"/>
                <a:cs typeface="Calibri" pitchFamily="34" charset="-120"/>
              </a:rPr>
              <a:t>Гаризан</a:t>
            </a:r>
            <a:r>
              <a:rPr lang="ru-RU" sz="1600" dirty="0">
                <a:solidFill>
                  <a:srgbClr val="CFE8F3"/>
                </a:solidFill>
                <a:latin typeface="Calibri" pitchFamily="34" charset="0"/>
                <a:ea typeface="Calibri" pitchFamily="34" charset="-122"/>
                <a:cs typeface="Calibri" pitchFamily="34" charset="-120"/>
              </a:rPr>
              <a:t> Фёдор, </a:t>
            </a:r>
            <a:r>
              <a:rPr lang="ru-RU" sz="1600" dirty="0" err="1">
                <a:solidFill>
                  <a:srgbClr val="CFE8F3"/>
                </a:solidFill>
                <a:latin typeface="Calibri" pitchFamily="34" charset="0"/>
                <a:ea typeface="Calibri" pitchFamily="34" charset="-122"/>
                <a:cs typeface="Calibri" pitchFamily="34" charset="-120"/>
              </a:rPr>
              <a:t>Коджебаш</a:t>
            </a:r>
            <a:r>
              <a:rPr lang="ru-RU" sz="1600" dirty="0">
                <a:solidFill>
                  <a:srgbClr val="CFE8F3"/>
                </a:solidFill>
                <a:latin typeface="Calibri" pitchFamily="34" charset="0"/>
                <a:ea typeface="Calibri" pitchFamily="34" charset="-122"/>
                <a:cs typeface="Calibri" pitchFamily="34" charset="-120"/>
              </a:rPr>
              <a:t> Олег</a:t>
            </a:r>
            <a:r>
              <a:rPr lang="en-US" sz="1600" dirty="0">
                <a:solidFill>
                  <a:srgbClr val="CFE8F3"/>
                </a:solidFill>
                <a:latin typeface="Calibri" pitchFamily="34" charset="0"/>
                <a:ea typeface="Calibri" pitchFamily="34" charset="-122"/>
                <a:cs typeface="Calibri" pitchFamily="34" charset="-120"/>
              </a:rPr>
              <a:t> </a:t>
            </a:r>
            <a:endParaRPr lang="en-US" sz="1600" dirty="0"/>
          </a:p>
        </p:txBody>
      </p:sp>
      <p:sp>
        <p:nvSpPr>
          <p:cNvPr id="17" name="Text 15"/>
          <p:cNvSpPr txBox="1"/>
          <p:nvPr/>
        </p:nvSpPr>
        <p:spPr>
          <a:xfrm>
            <a:off x="822960" y="4617720"/>
            <a:ext cx="5486400" cy="365760"/>
          </a:xfrm>
          <a:prstGeom prst="rect">
            <a:avLst/>
          </a:prstGeom>
          <a:noFill/>
          <a:ln/>
        </p:spPr>
        <p:txBody>
          <a:bodyPr wrap="square" lIns="0" tIns="0" rIns="0" bIns="0" rtlCol="0" anchor="ctr"/>
          <a:lstStyle/>
          <a:p>
            <a:pPr marL="0" indent="0">
              <a:buNone/>
            </a:pPr>
            <a:r>
              <a:rPr lang="en-US" sz="1600" dirty="0">
                <a:solidFill>
                  <a:srgbClr val="CFE8F3"/>
                </a:solidFill>
                <a:latin typeface="Calibri" pitchFamily="34" charset="0"/>
                <a:ea typeface="Calibri" pitchFamily="34" charset="-122"/>
                <a:cs typeface="Calibri" pitchFamily="34" charset="-120"/>
              </a:rPr>
              <a:t>Группа: IA2403</a:t>
            </a:r>
            <a:endParaRPr lang="en-US" sz="1600" dirty="0"/>
          </a:p>
        </p:txBody>
      </p:sp>
      <p:sp>
        <p:nvSpPr>
          <p:cNvPr id="18" name="Text 16"/>
          <p:cNvSpPr txBox="1"/>
          <p:nvPr/>
        </p:nvSpPr>
        <p:spPr>
          <a:xfrm>
            <a:off x="822960" y="5074920"/>
            <a:ext cx="54864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142433"/>
                </a:solidFill>
                <a:latin typeface="Cambria" pitchFamily="34" charset="0"/>
                <a:ea typeface="Cambria" pitchFamily="34" charset="-122"/>
                <a:cs typeface="Cambria" pitchFamily="34" charset="-120"/>
              </a:rPr>
              <a:t>Почему тема актуальна?</a:t>
            </a:r>
            <a:endParaRPr lang="en-US" sz="3200" dirty="0"/>
          </a:p>
        </p:txBody>
      </p:sp>
      <p:sp>
        <p:nvSpPr>
          <p:cNvPr id="3" name="Shape 1"/>
          <p:cNvSpPr/>
          <p:nvPr/>
        </p:nvSpPr>
        <p:spPr>
          <a:xfrm>
            <a:off x="731520" y="1554480"/>
            <a:ext cx="566928" cy="566928"/>
          </a:xfrm>
          <a:prstGeom prst="ellipse">
            <a:avLst/>
          </a:prstGeom>
          <a:solidFill>
            <a:srgbClr val="1C7293"/>
          </a:solidFill>
          <a:ln/>
        </p:spPr>
      </p:sp>
      <p:sp>
        <p:nvSpPr>
          <p:cNvPr id="4" name="Text 2"/>
          <p:cNvSpPr txBox="1"/>
          <p:nvPr/>
        </p:nvSpPr>
        <p:spPr>
          <a:xfrm>
            <a:off x="731520" y="1554480"/>
            <a:ext cx="566928" cy="566928"/>
          </a:xfrm>
          <a:prstGeom prst="rect">
            <a:avLst/>
          </a:prstGeom>
          <a:noFill/>
          <a:ln/>
        </p:spPr>
        <p:txBody>
          <a:bodyPr wrap="square" lIns="0" tIns="0" rIns="0" bIns="0" rtlCol="0" anchor="ctr"/>
          <a:lstStyle/>
          <a:p>
            <a:pPr marL="0" indent="0" algn="ctr">
              <a:buNone/>
            </a:pPr>
            <a:r>
              <a:rPr lang="en-US" sz="2400" dirty="0"/>
              <a:t>1</a:t>
            </a:r>
          </a:p>
        </p:txBody>
      </p:sp>
      <p:sp>
        <p:nvSpPr>
          <p:cNvPr id="5" name="Text 3"/>
          <p:cNvSpPr txBox="1"/>
          <p:nvPr/>
        </p:nvSpPr>
        <p:spPr>
          <a:xfrm>
            <a:off x="1554480" y="1536192"/>
            <a:ext cx="6035040" cy="603504"/>
          </a:xfrm>
          <a:prstGeom prst="rect">
            <a:avLst/>
          </a:prstGeom>
          <a:noFill/>
          <a:ln/>
        </p:spPr>
        <p:txBody>
          <a:bodyPr wrap="square" lIns="0" tIns="0" rIns="0" bIns="0" rtlCol="0" anchor="ctr"/>
          <a:lstStyle/>
          <a:p>
            <a:pPr marL="0" indent="0">
              <a:buNone/>
            </a:pPr>
            <a:r>
              <a:rPr lang="en-US" sz="1700" dirty="0">
                <a:solidFill>
                  <a:srgbClr val="142433"/>
                </a:solidFill>
                <a:latin typeface="Calibri" pitchFamily="34" charset="0"/>
                <a:ea typeface="Calibri" pitchFamily="34" charset="-122"/>
                <a:cs typeface="Calibri" pitchFamily="34" charset="-120"/>
              </a:rPr>
              <a:t>Образование становится цифровым</a:t>
            </a:r>
            <a:endParaRPr lang="en-US" sz="1700" dirty="0"/>
          </a:p>
        </p:txBody>
      </p:sp>
      <p:sp>
        <p:nvSpPr>
          <p:cNvPr id="6" name="Shape 4"/>
          <p:cNvSpPr/>
          <p:nvPr/>
        </p:nvSpPr>
        <p:spPr>
          <a:xfrm>
            <a:off x="731520" y="2450592"/>
            <a:ext cx="566928" cy="566928"/>
          </a:xfrm>
          <a:prstGeom prst="ellipse">
            <a:avLst/>
          </a:prstGeom>
          <a:solidFill>
            <a:srgbClr val="1C7293"/>
          </a:solidFill>
          <a:ln/>
        </p:spPr>
      </p:sp>
      <p:sp>
        <p:nvSpPr>
          <p:cNvPr id="7" name="Text 5"/>
          <p:cNvSpPr txBox="1"/>
          <p:nvPr/>
        </p:nvSpPr>
        <p:spPr>
          <a:xfrm>
            <a:off x="731520" y="2450592"/>
            <a:ext cx="566928" cy="566928"/>
          </a:xfrm>
          <a:prstGeom prst="rect">
            <a:avLst/>
          </a:prstGeom>
          <a:noFill/>
          <a:ln/>
        </p:spPr>
        <p:txBody>
          <a:bodyPr wrap="square" lIns="0" tIns="0" rIns="0" bIns="0" rtlCol="0" anchor="ctr"/>
          <a:lstStyle/>
          <a:p>
            <a:pPr marL="0" indent="0" algn="ctr">
              <a:buNone/>
            </a:pPr>
            <a:r>
              <a:rPr lang="en-US" sz="2400" dirty="0"/>
              <a:t>2</a:t>
            </a:r>
          </a:p>
        </p:txBody>
      </p:sp>
      <p:sp>
        <p:nvSpPr>
          <p:cNvPr id="8" name="Text 6"/>
          <p:cNvSpPr txBox="1"/>
          <p:nvPr/>
        </p:nvSpPr>
        <p:spPr>
          <a:xfrm>
            <a:off x="1554480" y="2432304"/>
            <a:ext cx="6035040" cy="603504"/>
          </a:xfrm>
          <a:prstGeom prst="rect">
            <a:avLst/>
          </a:prstGeom>
          <a:noFill/>
          <a:ln/>
        </p:spPr>
        <p:txBody>
          <a:bodyPr wrap="square" lIns="0" tIns="0" rIns="0" bIns="0" rtlCol="0" anchor="ctr"/>
          <a:lstStyle/>
          <a:p>
            <a:pPr marL="0" indent="0">
              <a:buNone/>
            </a:pPr>
            <a:r>
              <a:rPr lang="en-US" sz="1700" dirty="0">
                <a:solidFill>
                  <a:srgbClr val="142433"/>
                </a:solidFill>
                <a:latin typeface="Calibri" pitchFamily="34" charset="0"/>
                <a:ea typeface="Calibri" pitchFamily="34" charset="-122"/>
                <a:cs typeface="Calibri" pitchFamily="34" charset="-120"/>
              </a:rPr>
              <a:t>Учебные материалы доступны онлайн</a:t>
            </a:r>
            <a:endParaRPr lang="en-US" sz="1700" dirty="0"/>
          </a:p>
        </p:txBody>
      </p:sp>
      <p:sp>
        <p:nvSpPr>
          <p:cNvPr id="9" name="Shape 7"/>
          <p:cNvSpPr/>
          <p:nvPr/>
        </p:nvSpPr>
        <p:spPr>
          <a:xfrm>
            <a:off x="731520" y="3346704"/>
            <a:ext cx="566928" cy="566928"/>
          </a:xfrm>
          <a:prstGeom prst="ellipse">
            <a:avLst/>
          </a:prstGeom>
          <a:solidFill>
            <a:srgbClr val="1C7293"/>
          </a:solidFill>
          <a:ln/>
        </p:spPr>
      </p:sp>
      <p:sp>
        <p:nvSpPr>
          <p:cNvPr id="10" name="Text 8"/>
          <p:cNvSpPr txBox="1"/>
          <p:nvPr/>
        </p:nvSpPr>
        <p:spPr>
          <a:xfrm>
            <a:off x="731520" y="3346704"/>
            <a:ext cx="566928" cy="566928"/>
          </a:xfrm>
          <a:prstGeom prst="rect">
            <a:avLst/>
          </a:prstGeom>
          <a:noFill/>
          <a:ln/>
        </p:spPr>
        <p:txBody>
          <a:bodyPr wrap="square" lIns="0" tIns="0" rIns="0" bIns="0" rtlCol="0" anchor="ctr"/>
          <a:lstStyle/>
          <a:p>
            <a:pPr marL="0" indent="0" algn="ctr">
              <a:buNone/>
            </a:pPr>
            <a:r>
              <a:rPr lang="en-US" sz="2400" dirty="0"/>
              <a:t>3</a:t>
            </a:r>
          </a:p>
        </p:txBody>
      </p:sp>
      <p:sp>
        <p:nvSpPr>
          <p:cNvPr id="11" name="Text 9"/>
          <p:cNvSpPr txBox="1"/>
          <p:nvPr/>
        </p:nvSpPr>
        <p:spPr>
          <a:xfrm>
            <a:off x="1554480" y="3328416"/>
            <a:ext cx="6035040" cy="603504"/>
          </a:xfrm>
          <a:prstGeom prst="rect">
            <a:avLst/>
          </a:prstGeom>
          <a:noFill/>
          <a:ln/>
        </p:spPr>
        <p:txBody>
          <a:bodyPr wrap="square" lIns="0" tIns="0" rIns="0" bIns="0" rtlCol="0" anchor="ctr"/>
          <a:lstStyle/>
          <a:p>
            <a:pPr marL="0" indent="0">
              <a:buNone/>
            </a:pPr>
            <a:r>
              <a:rPr lang="en-US" sz="1700" dirty="0">
                <a:solidFill>
                  <a:srgbClr val="142433"/>
                </a:solidFill>
                <a:latin typeface="Calibri" pitchFamily="34" charset="0"/>
                <a:ea typeface="Calibri" pitchFamily="34" charset="-122"/>
                <a:cs typeface="Calibri" pitchFamily="34" charset="-120"/>
              </a:rPr>
              <a:t>Совместная работа через Интернет</a:t>
            </a:r>
            <a:endParaRPr lang="en-US" sz="1700" dirty="0"/>
          </a:p>
        </p:txBody>
      </p:sp>
      <p:sp>
        <p:nvSpPr>
          <p:cNvPr id="12" name="Shape 10"/>
          <p:cNvSpPr/>
          <p:nvPr/>
        </p:nvSpPr>
        <p:spPr>
          <a:xfrm>
            <a:off x="731520" y="4242816"/>
            <a:ext cx="566928" cy="566928"/>
          </a:xfrm>
          <a:prstGeom prst="ellipse">
            <a:avLst/>
          </a:prstGeom>
          <a:solidFill>
            <a:srgbClr val="1C7293"/>
          </a:solidFill>
          <a:ln/>
        </p:spPr>
      </p:sp>
      <p:sp>
        <p:nvSpPr>
          <p:cNvPr id="13" name="Text 11"/>
          <p:cNvSpPr txBox="1"/>
          <p:nvPr/>
        </p:nvSpPr>
        <p:spPr>
          <a:xfrm>
            <a:off x="731520" y="4242816"/>
            <a:ext cx="566928" cy="566928"/>
          </a:xfrm>
          <a:prstGeom prst="rect">
            <a:avLst/>
          </a:prstGeom>
          <a:noFill/>
          <a:ln/>
        </p:spPr>
        <p:txBody>
          <a:bodyPr wrap="square" lIns="0" tIns="0" rIns="0" bIns="0" rtlCol="0" anchor="ctr"/>
          <a:lstStyle/>
          <a:p>
            <a:pPr marL="0" indent="0" algn="ctr">
              <a:buNone/>
            </a:pPr>
            <a:r>
              <a:rPr lang="en-US" sz="2400" dirty="0"/>
              <a:t>4</a:t>
            </a:r>
          </a:p>
        </p:txBody>
      </p:sp>
      <p:sp>
        <p:nvSpPr>
          <p:cNvPr id="14" name="Text 12"/>
          <p:cNvSpPr txBox="1"/>
          <p:nvPr/>
        </p:nvSpPr>
        <p:spPr>
          <a:xfrm>
            <a:off x="1554480" y="4224528"/>
            <a:ext cx="6035040" cy="603504"/>
          </a:xfrm>
          <a:prstGeom prst="rect">
            <a:avLst/>
          </a:prstGeom>
          <a:noFill/>
          <a:ln/>
        </p:spPr>
        <p:txBody>
          <a:bodyPr wrap="square" lIns="0" tIns="0" rIns="0" bIns="0" rtlCol="0" anchor="ctr"/>
          <a:lstStyle/>
          <a:p>
            <a:pPr marL="0" indent="0">
              <a:buNone/>
            </a:pPr>
            <a:r>
              <a:rPr lang="en-US" sz="1700" dirty="0">
                <a:solidFill>
                  <a:srgbClr val="142433"/>
                </a:solidFill>
                <a:latin typeface="Calibri" pitchFamily="34" charset="0"/>
                <a:ea typeface="Calibri" pitchFamily="34" charset="-122"/>
                <a:cs typeface="Calibri" pitchFamily="34" charset="-120"/>
              </a:rPr>
              <a:t>Обучение возможно из разных мест</a:t>
            </a:r>
            <a:endParaRPr lang="en-US" sz="1700" dirty="0"/>
          </a:p>
        </p:txBody>
      </p:sp>
      <p:sp>
        <p:nvSpPr>
          <p:cNvPr id="15" name="Shape 13"/>
          <p:cNvSpPr/>
          <p:nvPr/>
        </p:nvSpPr>
        <p:spPr>
          <a:xfrm>
            <a:off x="731520" y="5138928"/>
            <a:ext cx="566928" cy="566928"/>
          </a:xfrm>
          <a:prstGeom prst="ellipse">
            <a:avLst/>
          </a:prstGeom>
          <a:solidFill>
            <a:srgbClr val="1C7293"/>
          </a:solidFill>
          <a:ln/>
        </p:spPr>
      </p:sp>
      <p:sp>
        <p:nvSpPr>
          <p:cNvPr id="16" name="Text 14"/>
          <p:cNvSpPr txBox="1"/>
          <p:nvPr/>
        </p:nvSpPr>
        <p:spPr>
          <a:xfrm>
            <a:off x="731520" y="5138928"/>
            <a:ext cx="566928" cy="566928"/>
          </a:xfrm>
          <a:prstGeom prst="rect">
            <a:avLst/>
          </a:prstGeom>
          <a:noFill/>
          <a:ln/>
        </p:spPr>
        <p:txBody>
          <a:bodyPr wrap="square" lIns="0" tIns="0" rIns="0" bIns="0" rtlCol="0" anchor="ctr"/>
          <a:lstStyle/>
          <a:p>
            <a:pPr marL="0" indent="0" algn="ctr">
              <a:buNone/>
            </a:pPr>
            <a:r>
              <a:rPr lang="en-US" sz="2400" dirty="0"/>
              <a:t>5</a:t>
            </a:r>
          </a:p>
        </p:txBody>
      </p:sp>
      <p:sp>
        <p:nvSpPr>
          <p:cNvPr id="17" name="Text 15"/>
          <p:cNvSpPr txBox="1"/>
          <p:nvPr/>
        </p:nvSpPr>
        <p:spPr>
          <a:xfrm>
            <a:off x="1554480" y="5120640"/>
            <a:ext cx="6035040" cy="603504"/>
          </a:xfrm>
          <a:prstGeom prst="rect">
            <a:avLst/>
          </a:prstGeom>
          <a:noFill/>
          <a:ln/>
        </p:spPr>
        <p:txBody>
          <a:bodyPr wrap="square" lIns="0" tIns="0" rIns="0" bIns="0" rtlCol="0" anchor="ctr"/>
          <a:lstStyle/>
          <a:p>
            <a:pPr marL="0" indent="0">
              <a:buNone/>
            </a:pPr>
            <a:r>
              <a:rPr lang="en-US" sz="1700" dirty="0">
                <a:solidFill>
                  <a:srgbClr val="142433"/>
                </a:solidFill>
                <a:latin typeface="Calibri" pitchFamily="34" charset="0"/>
                <a:ea typeface="Calibri" pitchFamily="34" charset="-122"/>
                <a:cs typeface="Calibri" pitchFamily="34" charset="-120"/>
              </a:rPr>
              <a:t>Растёт использование онлайн-сервисов</a:t>
            </a:r>
            <a:endParaRPr lang="en-US" sz="1700" dirty="0"/>
          </a:p>
        </p:txBody>
      </p:sp>
      <p:sp>
        <p:nvSpPr>
          <p:cNvPr id="18" name="Shape 16"/>
          <p:cNvSpPr/>
          <p:nvPr/>
        </p:nvSpPr>
        <p:spPr>
          <a:xfrm>
            <a:off x="8138160" y="1554480"/>
            <a:ext cx="3429000" cy="4480560"/>
          </a:xfrm>
          <a:prstGeom prst="roundRect">
            <a:avLst>
              <a:gd name="adj" fmla="val 3200"/>
            </a:avLst>
          </a:prstGeom>
          <a:solidFill>
            <a:srgbClr val="065A82"/>
          </a:solidFill>
          <a:ln/>
        </p:spPr>
      </p:sp>
      <p:sp>
        <p:nvSpPr>
          <p:cNvPr id="19" name="Shape 17"/>
          <p:cNvSpPr/>
          <p:nvPr/>
        </p:nvSpPr>
        <p:spPr>
          <a:xfrm>
            <a:off x="8732520" y="2318004"/>
            <a:ext cx="1307592" cy="905256"/>
          </a:xfrm>
          <a:prstGeom prst="ellipse">
            <a:avLst/>
          </a:prstGeom>
          <a:solidFill>
            <a:srgbClr val="FFFFFF">
              <a:alpha val="18000"/>
            </a:srgbClr>
          </a:solidFill>
          <a:ln/>
        </p:spPr>
      </p:sp>
      <p:sp>
        <p:nvSpPr>
          <p:cNvPr id="20" name="Shape 18"/>
          <p:cNvSpPr/>
          <p:nvPr/>
        </p:nvSpPr>
        <p:spPr>
          <a:xfrm>
            <a:off x="9285732" y="1965960"/>
            <a:ext cx="1508760" cy="1156716"/>
          </a:xfrm>
          <a:prstGeom prst="ellipse">
            <a:avLst/>
          </a:prstGeom>
          <a:solidFill>
            <a:srgbClr val="FFFFFF">
              <a:alpha val="18000"/>
            </a:srgbClr>
          </a:solidFill>
          <a:ln/>
        </p:spPr>
      </p:sp>
      <p:sp>
        <p:nvSpPr>
          <p:cNvPr id="21" name="Shape 19"/>
          <p:cNvSpPr/>
          <p:nvPr/>
        </p:nvSpPr>
        <p:spPr>
          <a:xfrm>
            <a:off x="10090404" y="2267712"/>
            <a:ext cx="1207008" cy="854964"/>
          </a:xfrm>
          <a:prstGeom prst="ellipse">
            <a:avLst/>
          </a:prstGeom>
          <a:solidFill>
            <a:srgbClr val="FFFFFF">
              <a:alpha val="18000"/>
            </a:srgbClr>
          </a:solidFill>
          <a:ln/>
        </p:spPr>
      </p:sp>
      <p:sp>
        <p:nvSpPr>
          <p:cNvPr id="22" name="Shape 20"/>
          <p:cNvSpPr/>
          <p:nvPr/>
        </p:nvSpPr>
        <p:spPr>
          <a:xfrm>
            <a:off x="8912762" y="2674620"/>
            <a:ext cx="2212848" cy="653796"/>
          </a:xfrm>
          <a:prstGeom prst="roundRect">
            <a:avLst>
              <a:gd name="adj" fmla="val 20979"/>
            </a:avLst>
          </a:prstGeom>
          <a:solidFill>
            <a:srgbClr val="FFFFFF">
              <a:alpha val="18000"/>
            </a:srgbClr>
          </a:solidFill>
          <a:ln/>
        </p:spPr>
        <p:txBody>
          <a:bodyPr/>
          <a:lstStyle/>
          <a:p>
            <a:endParaRPr lang="ru-RU" dirty="0"/>
          </a:p>
        </p:txBody>
      </p:sp>
      <p:sp>
        <p:nvSpPr>
          <p:cNvPr id="23" name="Text 21"/>
          <p:cNvSpPr txBox="1"/>
          <p:nvPr/>
        </p:nvSpPr>
        <p:spPr>
          <a:xfrm>
            <a:off x="8520724" y="3289749"/>
            <a:ext cx="2880360" cy="822960"/>
          </a:xfrm>
          <a:prstGeom prst="rect">
            <a:avLst/>
          </a:prstGeom>
          <a:noFill/>
          <a:ln/>
        </p:spPr>
        <p:txBody>
          <a:bodyPr wrap="square" lIns="0" tIns="0" rIns="0" bIns="0" rtlCol="0" anchor="t"/>
          <a:lstStyle/>
          <a:p>
            <a:pPr marL="0" indent="0">
              <a:buNone/>
            </a:pPr>
            <a:r>
              <a:rPr lang="en-US" sz="1400" i="1" dirty="0">
                <a:solidFill>
                  <a:srgbClr val="CFE8F3"/>
                </a:solidFill>
                <a:latin typeface="Calibri" pitchFamily="34" charset="0"/>
                <a:ea typeface="Calibri" pitchFamily="34" charset="-122"/>
                <a:cs typeface="Calibri" pitchFamily="34" charset="-120"/>
              </a:rPr>
              <a:t>Цифровая среда объединяет студентов и преподавателей независимо от места нахождения.</a:t>
            </a:r>
            <a:endParaRPr lang="en-US" sz="1400" dirty="0"/>
          </a:p>
        </p:txBody>
      </p:sp>
      <p:sp>
        <p:nvSpPr>
          <p:cNvPr id="24" name="Text 22"/>
          <p:cNvSpPr txBox="1"/>
          <p:nvPr/>
        </p:nvSpPr>
        <p:spPr>
          <a:xfrm>
            <a:off x="11457432" y="6400800"/>
            <a:ext cx="457200" cy="274320"/>
          </a:xfrm>
          <a:prstGeom prst="rect">
            <a:avLst/>
          </a:prstGeom>
          <a:noFill/>
          <a:ln/>
        </p:spPr>
        <p:txBody>
          <a:bodyPr wrap="square" lIns="0" tIns="0" rIns="0" bIns="0" rtlCol="0" anchor="ctr"/>
          <a:lstStyle/>
          <a:p>
            <a:pPr marL="0" indent="0" algn="r">
              <a:buNone/>
            </a:pPr>
            <a:r>
              <a:rPr lang="en-US" sz="1000" dirty="0">
                <a:solidFill>
                  <a:srgbClr val="5B74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142433"/>
                </a:solidFill>
                <a:latin typeface="Cambria" pitchFamily="34" charset="0"/>
                <a:ea typeface="Cambria" pitchFamily="34" charset="-122"/>
                <a:cs typeface="Cambria" pitchFamily="34" charset="-120"/>
              </a:rPr>
              <a:t>Что такое облачные технологии?</a:t>
            </a:r>
            <a:endParaRPr lang="en-US" sz="3200" dirty="0"/>
          </a:p>
        </p:txBody>
      </p:sp>
      <p:sp>
        <p:nvSpPr>
          <p:cNvPr id="3" name="Text 1"/>
          <p:cNvSpPr txBox="1"/>
          <p:nvPr/>
        </p:nvSpPr>
        <p:spPr>
          <a:xfrm>
            <a:off x="640080" y="1097280"/>
            <a:ext cx="5486400" cy="365760"/>
          </a:xfrm>
          <a:prstGeom prst="rect">
            <a:avLst/>
          </a:prstGeom>
          <a:noFill/>
          <a:ln/>
        </p:spPr>
        <p:txBody>
          <a:bodyPr wrap="square" lIns="0" tIns="0" rIns="0" bIns="0" rtlCol="0" anchor="ctr"/>
          <a:lstStyle/>
          <a:p>
            <a:pPr marL="0" indent="0">
              <a:buNone/>
            </a:pPr>
            <a:r>
              <a:rPr lang="en-US" sz="1500" i="1" dirty="0">
                <a:solidFill>
                  <a:srgbClr val="1C7293"/>
                </a:solidFill>
                <a:latin typeface="Calibri" pitchFamily="34" charset="0"/>
                <a:ea typeface="Calibri" pitchFamily="34" charset="-122"/>
                <a:cs typeface="Calibri" pitchFamily="34" charset="-120"/>
              </a:rPr>
              <a:t>Cloud Computing</a:t>
            </a:r>
            <a:endParaRPr lang="en-US" sz="1500" dirty="0"/>
          </a:p>
        </p:txBody>
      </p:sp>
      <p:sp>
        <p:nvSpPr>
          <p:cNvPr id="4" name="Text 2"/>
          <p:cNvSpPr txBox="1"/>
          <p:nvPr/>
        </p:nvSpPr>
        <p:spPr>
          <a:xfrm>
            <a:off x="640080" y="1600200"/>
            <a:ext cx="10881360" cy="822960"/>
          </a:xfrm>
          <a:prstGeom prst="rect">
            <a:avLst/>
          </a:prstGeom>
          <a:noFill/>
          <a:ln/>
        </p:spPr>
        <p:txBody>
          <a:bodyPr wrap="square" lIns="0" tIns="0" rIns="0" bIns="0" rtlCol="0" anchor="ctr"/>
          <a:lstStyle/>
          <a:p>
            <a:pPr marL="0" indent="0">
              <a:buNone/>
            </a:pPr>
            <a:r>
              <a:rPr lang="en-US" sz="1600" dirty="0">
                <a:solidFill>
                  <a:srgbClr val="142433"/>
                </a:solidFill>
                <a:latin typeface="Calibri" pitchFamily="34" charset="0"/>
                <a:ea typeface="Calibri" pitchFamily="34" charset="-122"/>
                <a:cs typeface="Calibri" pitchFamily="34" charset="-120"/>
              </a:rPr>
              <a:t>Облачные технологии — это использование вычислительных ресурсов, хранилищ данных, программ и сервисов через Интернет.</a:t>
            </a:r>
            <a:endParaRPr lang="en-US" sz="1600" dirty="0"/>
          </a:p>
        </p:txBody>
      </p:sp>
      <p:sp>
        <p:nvSpPr>
          <p:cNvPr id="5" name="Shape 3"/>
          <p:cNvSpPr/>
          <p:nvPr/>
        </p:nvSpPr>
        <p:spPr>
          <a:xfrm>
            <a:off x="640080" y="3108960"/>
            <a:ext cx="2343150" cy="1188720"/>
          </a:xfrm>
          <a:prstGeom prst="roundRect">
            <a:avLst>
              <a:gd name="adj" fmla="val 7692"/>
            </a:avLst>
          </a:prstGeom>
          <a:solidFill>
            <a:srgbClr val="1C7293"/>
          </a:solidFill>
          <a:ln/>
        </p:spPr>
      </p:sp>
      <p:sp>
        <p:nvSpPr>
          <p:cNvPr id="6" name="Text 4"/>
          <p:cNvSpPr txBox="1"/>
          <p:nvPr/>
        </p:nvSpPr>
        <p:spPr>
          <a:xfrm>
            <a:off x="640080" y="3218688"/>
            <a:ext cx="2343150" cy="502920"/>
          </a:xfrm>
          <a:prstGeom prst="rect">
            <a:avLst/>
          </a:prstGeom>
          <a:noFill/>
          <a:ln/>
        </p:spPr>
        <p:txBody>
          <a:bodyPr wrap="square" lIns="0" tIns="0" rIns="0" bIns="0" rtlCol="0" anchor="ctr"/>
          <a:lstStyle/>
          <a:p>
            <a:pPr marL="0" indent="0" algn="ctr">
              <a:buNone/>
            </a:pPr>
            <a:endParaRPr lang="en-US" sz="2600" dirty="0"/>
          </a:p>
        </p:txBody>
      </p:sp>
      <p:sp>
        <p:nvSpPr>
          <p:cNvPr id="7" name="Text 5"/>
          <p:cNvSpPr txBox="1"/>
          <p:nvPr/>
        </p:nvSpPr>
        <p:spPr>
          <a:xfrm>
            <a:off x="640080" y="3506724"/>
            <a:ext cx="2343150" cy="502920"/>
          </a:xfrm>
          <a:prstGeom prst="rect">
            <a:avLst/>
          </a:prstGeom>
          <a:noFill/>
          <a:ln/>
        </p:spPr>
        <p:txBody>
          <a:bodyPr wrap="square" lIns="0" tIns="0" rIns="0" bIns="0"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Компьютер</a:t>
            </a:r>
            <a:endParaRPr lang="en-US" sz="1400" dirty="0"/>
          </a:p>
        </p:txBody>
      </p:sp>
      <p:sp>
        <p:nvSpPr>
          <p:cNvPr id="8" name="Text 6"/>
          <p:cNvSpPr txBox="1"/>
          <p:nvPr/>
        </p:nvSpPr>
        <p:spPr>
          <a:xfrm>
            <a:off x="2983230" y="3108960"/>
            <a:ext cx="502920" cy="1188720"/>
          </a:xfrm>
          <a:prstGeom prst="rect">
            <a:avLst/>
          </a:prstGeom>
          <a:noFill/>
          <a:ln/>
        </p:spPr>
        <p:txBody>
          <a:bodyPr wrap="square" lIns="0" tIns="0" rIns="0" bIns="0" rtlCol="0" anchor="ctr"/>
          <a:lstStyle/>
          <a:p>
            <a:pPr marL="0" indent="0" algn="ctr">
              <a:buNone/>
            </a:pPr>
            <a:r>
              <a:rPr lang="en-US" sz="2600" dirty="0">
                <a:solidFill>
                  <a:srgbClr val="5B7482"/>
                </a:solidFill>
              </a:rPr>
              <a:t>→</a:t>
            </a:r>
            <a:endParaRPr lang="en-US" sz="2600" dirty="0"/>
          </a:p>
        </p:txBody>
      </p:sp>
      <p:sp>
        <p:nvSpPr>
          <p:cNvPr id="9" name="Shape 7"/>
          <p:cNvSpPr/>
          <p:nvPr/>
        </p:nvSpPr>
        <p:spPr>
          <a:xfrm>
            <a:off x="3486150" y="3108960"/>
            <a:ext cx="2343150" cy="1188720"/>
          </a:xfrm>
          <a:prstGeom prst="roundRect">
            <a:avLst>
              <a:gd name="adj" fmla="val 7692"/>
            </a:avLst>
          </a:prstGeom>
          <a:solidFill>
            <a:srgbClr val="1C7293"/>
          </a:solidFill>
          <a:ln/>
        </p:spPr>
      </p:sp>
      <p:sp>
        <p:nvSpPr>
          <p:cNvPr id="10" name="Text 8"/>
          <p:cNvSpPr txBox="1"/>
          <p:nvPr/>
        </p:nvSpPr>
        <p:spPr>
          <a:xfrm>
            <a:off x="3486150" y="3218688"/>
            <a:ext cx="2343150" cy="502920"/>
          </a:xfrm>
          <a:prstGeom prst="rect">
            <a:avLst/>
          </a:prstGeom>
          <a:noFill/>
          <a:ln/>
        </p:spPr>
        <p:txBody>
          <a:bodyPr wrap="square" lIns="0" tIns="0" rIns="0" bIns="0" rtlCol="0" anchor="ctr"/>
          <a:lstStyle/>
          <a:p>
            <a:pPr marL="0" indent="0" algn="ctr">
              <a:buNone/>
            </a:pPr>
            <a:endParaRPr lang="en-US" sz="2600" dirty="0"/>
          </a:p>
        </p:txBody>
      </p:sp>
      <p:sp>
        <p:nvSpPr>
          <p:cNvPr id="11" name="Text 9"/>
          <p:cNvSpPr txBox="1"/>
          <p:nvPr/>
        </p:nvSpPr>
        <p:spPr>
          <a:xfrm>
            <a:off x="3486150" y="3505708"/>
            <a:ext cx="2343150" cy="502920"/>
          </a:xfrm>
          <a:prstGeom prst="rect">
            <a:avLst/>
          </a:prstGeom>
          <a:noFill/>
          <a:ln/>
        </p:spPr>
        <p:txBody>
          <a:bodyPr wrap="square" lIns="0" tIns="0" rIns="0" bIns="0"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Интернет</a:t>
            </a:r>
            <a:endParaRPr lang="en-US" sz="1400" dirty="0"/>
          </a:p>
        </p:txBody>
      </p:sp>
      <p:sp>
        <p:nvSpPr>
          <p:cNvPr id="12" name="Text 10"/>
          <p:cNvSpPr txBox="1"/>
          <p:nvPr/>
        </p:nvSpPr>
        <p:spPr>
          <a:xfrm>
            <a:off x="5829300" y="3108960"/>
            <a:ext cx="502920" cy="1188720"/>
          </a:xfrm>
          <a:prstGeom prst="rect">
            <a:avLst/>
          </a:prstGeom>
          <a:noFill/>
          <a:ln/>
        </p:spPr>
        <p:txBody>
          <a:bodyPr wrap="square" lIns="0" tIns="0" rIns="0" bIns="0" rtlCol="0" anchor="ctr"/>
          <a:lstStyle/>
          <a:p>
            <a:pPr marL="0" indent="0" algn="ctr">
              <a:buNone/>
            </a:pPr>
            <a:r>
              <a:rPr lang="en-US" sz="2600" dirty="0">
                <a:solidFill>
                  <a:srgbClr val="5B7482"/>
                </a:solidFill>
              </a:rPr>
              <a:t>→</a:t>
            </a:r>
            <a:endParaRPr lang="en-US" sz="2600" dirty="0"/>
          </a:p>
        </p:txBody>
      </p:sp>
      <p:sp>
        <p:nvSpPr>
          <p:cNvPr id="13" name="Shape 11"/>
          <p:cNvSpPr/>
          <p:nvPr/>
        </p:nvSpPr>
        <p:spPr>
          <a:xfrm>
            <a:off x="6332220" y="3108960"/>
            <a:ext cx="2343150" cy="1188720"/>
          </a:xfrm>
          <a:prstGeom prst="roundRect">
            <a:avLst>
              <a:gd name="adj" fmla="val 7692"/>
            </a:avLst>
          </a:prstGeom>
          <a:solidFill>
            <a:srgbClr val="065A82"/>
          </a:solidFill>
          <a:ln/>
        </p:spPr>
      </p:sp>
      <p:sp>
        <p:nvSpPr>
          <p:cNvPr id="15" name="Text 13"/>
          <p:cNvSpPr txBox="1"/>
          <p:nvPr/>
        </p:nvSpPr>
        <p:spPr>
          <a:xfrm>
            <a:off x="6332220" y="3505708"/>
            <a:ext cx="2343150" cy="502920"/>
          </a:xfrm>
          <a:prstGeom prst="rect">
            <a:avLst/>
          </a:prstGeom>
          <a:noFill/>
          <a:ln/>
        </p:spPr>
        <p:txBody>
          <a:bodyPr wrap="square" lIns="0" tIns="0" rIns="0" bIns="0"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Облако</a:t>
            </a:r>
            <a:endParaRPr lang="en-US" sz="1400" dirty="0"/>
          </a:p>
        </p:txBody>
      </p:sp>
      <p:sp>
        <p:nvSpPr>
          <p:cNvPr id="16" name="Text 14"/>
          <p:cNvSpPr txBox="1"/>
          <p:nvPr/>
        </p:nvSpPr>
        <p:spPr>
          <a:xfrm>
            <a:off x="8675370" y="3108960"/>
            <a:ext cx="502920" cy="1188720"/>
          </a:xfrm>
          <a:prstGeom prst="rect">
            <a:avLst/>
          </a:prstGeom>
          <a:noFill/>
          <a:ln/>
        </p:spPr>
        <p:txBody>
          <a:bodyPr wrap="square" lIns="0" tIns="0" rIns="0" bIns="0" rtlCol="0" anchor="ctr"/>
          <a:lstStyle/>
          <a:p>
            <a:pPr marL="0" indent="0" algn="ctr">
              <a:buNone/>
            </a:pPr>
            <a:r>
              <a:rPr lang="en-US" sz="2600" dirty="0">
                <a:solidFill>
                  <a:srgbClr val="5B7482"/>
                </a:solidFill>
              </a:rPr>
              <a:t>→</a:t>
            </a:r>
            <a:endParaRPr lang="en-US" sz="2600" dirty="0"/>
          </a:p>
        </p:txBody>
      </p:sp>
      <p:sp>
        <p:nvSpPr>
          <p:cNvPr id="17" name="Shape 15"/>
          <p:cNvSpPr/>
          <p:nvPr/>
        </p:nvSpPr>
        <p:spPr>
          <a:xfrm>
            <a:off x="9178290" y="3108960"/>
            <a:ext cx="2343150" cy="1188720"/>
          </a:xfrm>
          <a:prstGeom prst="roundRect">
            <a:avLst>
              <a:gd name="adj" fmla="val 7692"/>
            </a:avLst>
          </a:prstGeom>
          <a:solidFill>
            <a:srgbClr val="1C7293"/>
          </a:solidFill>
          <a:ln/>
        </p:spPr>
      </p:sp>
      <p:sp>
        <p:nvSpPr>
          <p:cNvPr id="18" name="Text 16"/>
          <p:cNvSpPr txBox="1"/>
          <p:nvPr/>
        </p:nvSpPr>
        <p:spPr>
          <a:xfrm>
            <a:off x="9178290" y="3218688"/>
            <a:ext cx="2343150" cy="502920"/>
          </a:xfrm>
          <a:prstGeom prst="rect">
            <a:avLst/>
          </a:prstGeom>
          <a:noFill/>
          <a:ln/>
        </p:spPr>
        <p:txBody>
          <a:bodyPr wrap="square" lIns="0" tIns="0" rIns="0" bIns="0" rtlCol="0" anchor="ctr"/>
          <a:lstStyle/>
          <a:p>
            <a:pPr marL="0" indent="0" algn="ctr">
              <a:buNone/>
            </a:pPr>
            <a:endParaRPr lang="en-US" sz="2600" dirty="0"/>
          </a:p>
        </p:txBody>
      </p:sp>
      <p:sp>
        <p:nvSpPr>
          <p:cNvPr id="19" name="Text 17"/>
          <p:cNvSpPr txBox="1"/>
          <p:nvPr/>
        </p:nvSpPr>
        <p:spPr>
          <a:xfrm>
            <a:off x="9178290" y="3509538"/>
            <a:ext cx="2343150" cy="502920"/>
          </a:xfrm>
          <a:prstGeom prst="rect">
            <a:avLst/>
          </a:prstGeom>
          <a:noFill/>
          <a:ln/>
        </p:spPr>
        <p:txBody>
          <a:bodyPr wrap="square" lIns="0" tIns="0" rIns="0" bIns="0"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Данные /</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Сервис</a:t>
            </a:r>
            <a:endParaRPr lang="en-US" sz="1400" dirty="0"/>
          </a:p>
        </p:txBody>
      </p:sp>
      <p:sp>
        <p:nvSpPr>
          <p:cNvPr id="20" name="Text 18"/>
          <p:cNvSpPr txBox="1"/>
          <p:nvPr/>
        </p:nvSpPr>
        <p:spPr>
          <a:xfrm>
            <a:off x="640080" y="4709160"/>
            <a:ext cx="10881360" cy="548640"/>
          </a:xfrm>
          <a:prstGeom prst="rect">
            <a:avLst/>
          </a:prstGeom>
          <a:noFill/>
          <a:ln/>
        </p:spPr>
        <p:txBody>
          <a:bodyPr wrap="square" lIns="0" tIns="0" rIns="0" bIns="0" rtlCol="0" anchor="ctr"/>
          <a:lstStyle/>
          <a:p>
            <a:pPr marL="0" indent="0">
              <a:buNone/>
            </a:pPr>
            <a:r>
              <a:rPr lang="en-US" sz="1400" i="1" dirty="0">
                <a:solidFill>
                  <a:srgbClr val="5B7482"/>
                </a:solidFill>
                <a:latin typeface="Calibri" pitchFamily="34" charset="0"/>
                <a:ea typeface="Calibri" pitchFamily="34" charset="-122"/>
                <a:cs typeface="Calibri" pitchFamily="34" charset="-120"/>
              </a:rPr>
              <a:t>Пример: файл, сохранённый в Google Drive, доступен через Интернет с любого устройства.</a:t>
            </a:r>
            <a:endParaRPr lang="en-US" sz="1400" dirty="0"/>
          </a:p>
        </p:txBody>
      </p:sp>
      <p:sp>
        <p:nvSpPr>
          <p:cNvPr id="21" name="Text 19"/>
          <p:cNvSpPr txBox="1"/>
          <p:nvPr/>
        </p:nvSpPr>
        <p:spPr>
          <a:xfrm>
            <a:off x="11457432" y="6400800"/>
            <a:ext cx="457200" cy="274320"/>
          </a:xfrm>
          <a:prstGeom prst="rect">
            <a:avLst/>
          </a:prstGeom>
          <a:noFill/>
          <a:ln/>
        </p:spPr>
        <p:txBody>
          <a:bodyPr wrap="square" lIns="0" tIns="0" rIns="0" bIns="0" rtlCol="0" anchor="ctr"/>
          <a:lstStyle/>
          <a:p>
            <a:pPr marL="0" indent="0" algn="r">
              <a:buNone/>
            </a:pPr>
            <a:r>
              <a:rPr lang="en-US" sz="1000" dirty="0">
                <a:solidFill>
                  <a:srgbClr val="5B748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marL="0" indent="0">
              <a:buNone/>
            </a:pPr>
            <a:r>
              <a:rPr lang="en-US" sz="3000" b="1" dirty="0">
                <a:solidFill>
                  <a:srgbClr val="142433"/>
                </a:solidFill>
                <a:latin typeface="Cambria" pitchFamily="34" charset="0"/>
                <a:ea typeface="Cambria" pitchFamily="34" charset="-122"/>
                <a:cs typeface="Cambria" pitchFamily="34" charset="-120"/>
              </a:rPr>
              <a:t>Где используются облачные технологии?</a:t>
            </a:r>
            <a:endParaRPr lang="en-US" sz="3000" dirty="0"/>
          </a:p>
        </p:txBody>
      </p:sp>
      <p:sp>
        <p:nvSpPr>
          <p:cNvPr id="3" name="Shape 1"/>
          <p:cNvSpPr/>
          <p:nvPr/>
        </p:nvSpPr>
        <p:spPr>
          <a:xfrm>
            <a:off x="640080" y="1417320"/>
            <a:ext cx="5257800" cy="1298448"/>
          </a:xfrm>
          <a:prstGeom prst="roundRect">
            <a:avLst>
              <a:gd name="adj" fmla="val 6338"/>
            </a:avLst>
          </a:prstGeom>
          <a:solidFill>
            <a:srgbClr val="FFFFFF"/>
          </a:solidFill>
          <a:ln w="12700">
            <a:solidFill>
              <a:srgbClr val="DCE7EC"/>
            </a:solidFill>
            <a:prstDash val="solid"/>
          </a:ln>
          <a:effectLst>
            <a:outerShdw blurRad="76200" dist="25400" dir="5400000" algn="bl" rotWithShape="0">
              <a:srgbClr val="1C7293">
                <a:alpha val="15000"/>
              </a:srgbClr>
            </a:outerShdw>
          </a:effectLst>
        </p:spPr>
      </p:sp>
      <p:sp>
        <p:nvSpPr>
          <p:cNvPr id="4" name="Shape 2"/>
          <p:cNvSpPr/>
          <p:nvPr/>
        </p:nvSpPr>
        <p:spPr>
          <a:xfrm>
            <a:off x="841248" y="1764792"/>
            <a:ext cx="603504" cy="603504"/>
          </a:xfrm>
          <a:prstGeom prst="ellipse">
            <a:avLst/>
          </a:prstGeom>
          <a:solidFill>
            <a:srgbClr val="CFE8F3"/>
          </a:solidFill>
          <a:ln/>
        </p:spPr>
      </p:sp>
      <p:sp>
        <p:nvSpPr>
          <p:cNvPr id="5" name="Text 3"/>
          <p:cNvSpPr txBox="1"/>
          <p:nvPr/>
        </p:nvSpPr>
        <p:spPr>
          <a:xfrm>
            <a:off x="841248" y="1764792"/>
            <a:ext cx="603504" cy="603504"/>
          </a:xfrm>
          <a:prstGeom prst="rect">
            <a:avLst/>
          </a:prstGeom>
          <a:noFill/>
          <a:ln/>
        </p:spPr>
        <p:txBody>
          <a:bodyPr wrap="square" lIns="0" tIns="0" rIns="0" bIns="0" rtlCol="0" anchor="ctr"/>
          <a:lstStyle/>
          <a:p>
            <a:pPr marL="0" indent="0" algn="ctr">
              <a:buNone/>
            </a:pPr>
            <a:r>
              <a:rPr lang="en-US" sz="2600" dirty="0"/>
              <a:t>1</a:t>
            </a:r>
          </a:p>
        </p:txBody>
      </p:sp>
      <p:sp>
        <p:nvSpPr>
          <p:cNvPr id="6" name="Text 4"/>
          <p:cNvSpPr txBox="1"/>
          <p:nvPr/>
        </p:nvSpPr>
        <p:spPr>
          <a:xfrm>
            <a:off x="1645920" y="1581912"/>
            <a:ext cx="4069080" cy="365760"/>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Хранение</a:t>
            </a:r>
            <a:endParaRPr lang="en-US" sz="1600" dirty="0"/>
          </a:p>
        </p:txBody>
      </p:sp>
      <p:sp>
        <p:nvSpPr>
          <p:cNvPr id="7" name="Text 5"/>
          <p:cNvSpPr txBox="1"/>
          <p:nvPr/>
        </p:nvSpPr>
        <p:spPr>
          <a:xfrm>
            <a:off x="1645920" y="1984248"/>
            <a:ext cx="4069080" cy="594360"/>
          </a:xfrm>
          <a:prstGeom prst="rect">
            <a:avLst/>
          </a:prstGeom>
          <a:noFill/>
          <a:ln/>
        </p:spPr>
        <p:txBody>
          <a:bodyPr wrap="square" lIns="0" tIns="0" rIns="0" bIns="0" rtlCol="0" anchor="ctr"/>
          <a:lstStyle/>
          <a:p>
            <a:pPr marL="0" indent="0">
              <a:buNone/>
            </a:pPr>
            <a:r>
              <a:rPr lang="en-US" sz="1300" dirty="0">
                <a:solidFill>
                  <a:srgbClr val="5B7482"/>
                </a:solidFill>
                <a:latin typeface="Calibri" pitchFamily="34" charset="0"/>
                <a:ea typeface="Calibri" pitchFamily="34" charset="-122"/>
                <a:cs typeface="Calibri" pitchFamily="34" charset="-120"/>
              </a:rPr>
              <a:t>Google Drive, OneDrive</a:t>
            </a:r>
            <a:endParaRPr lang="en-US" sz="1300" dirty="0"/>
          </a:p>
        </p:txBody>
      </p:sp>
      <p:sp>
        <p:nvSpPr>
          <p:cNvPr id="8" name="Shape 6"/>
          <p:cNvSpPr/>
          <p:nvPr/>
        </p:nvSpPr>
        <p:spPr>
          <a:xfrm>
            <a:off x="6263640" y="1417320"/>
            <a:ext cx="5257800" cy="1298448"/>
          </a:xfrm>
          <a:prstGeom prst="roundRect">
            <a:avLst>
              <a:gd name="adj" fmla="val 6338"/>
            </a:avLst>
          </a:prstGeom>
          <a:solidFill>
            <a:srgbClr val="FFFFFF"/>
          </a:solidFill>
          <a:ln w="12700">
            <a:solidFill>
              <a:srgbClr val="DCE7EC"/>
            </a:solidFill>
            <a:prstDash val="solid"/>
          </a:ln>
          <a:effectLst>
            <a:outerShdw blurRad="76200" dist="25400" dir="5400000" algn="bl" rotWithShape="0">
              <a:srgbClr val="1C7293">
                <a:alpha val="15000"/>
              </a:srgbClr>
            </a:outerShdw>
          </a:effectLst>
        </p:spPr>
      </p:sp>
      <p:sp>
        <p:nvSpPr>
          <p:cNvPr id="9" name="Shape 7"/>
          <p:cNvSpPr/>
          <p:nvPr/>
        </p:nvSpPr>
        <p:spPr>
          <a:xfrm>
            <a:off x="6464808" y="1764792"/>
            <a:ext cx="603504" cy="603504"/>
          </a:xfrm>
          <a:prstGeom prst="ellipse">
            <a:avLst/>
          </a:prstGeom>
          <a:solidFill>
            <a:srgbClr val="CFE8F3"/>
          </a:solidFill>
          <a:ln/>
        </p:spPr>
      </p:sp>
      <p:sp>
        <p:nvSpPr>
          <p:cNvPr id="10" name="Text 8"/>
          <p:cNvSpPr txBox="1"/>
          <p:nvPr/>
        </p:nvSpPr>
        <p:spPr>
          <a:xfrm>
            <a:off x="6464808" y="1764792"/>
            <a:ext cx="603504" cy="603504"/>
          </a:xfrm>
          <a:prstGeom prst="rect">
            <a:avLst/>
          </a:prstGeom>
          <a:noFill/>
          <a:ln/>
        </p:spPr>
        <p:txBody>
          <a:bodyPr wrap="square" lIns="0" tIns="0" rIns="0" bIns="0" rtlCol="0" anchor="ctr"/>
          <a:lstStyle/>
          <a:p>
            <a:pPr marL="0" indent="0" algn="ctr">
              <a:buNone/>
            </a:pPr>
            <a:r>
              <a:rPr lang="en-US" sz="2600" dirty="0"/>
              <a:t>4</a:t>
            </a:r>
          </a:p>
        </p:txBody>
      </p:sp>
      <p:sp>
        <p:nvSpPr>
          <p:cNvPr id="11" name="Text 9"/>
          <p:cNvSpPr txBox="1"/>
          <p:nvPr/>
        </p:nvSpPr>
        <p:spPr>
          <a:xfrm>
            <a:off x="7269480" y="1581912"/>
            <a:ext cx="4069080" cy="365760"/>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Документы</a:t>
            </a:r>
            <a:endParaRPr lang="en-US" sz="1600" dirty="0"/>
          </a:p>
        </p:txBody>
      </p:sp>
      <p:sp>
        <p:nvSpPr>
          <p:cNvPr id="12" name="Text 10"/>
          <p:cNvSpPr txBox="1"/>
          <p:nvPr/>
        </p:nvSpPr>
        <p:spPr>
          <a:xfrm>
            <a:off x="7269480" y="1984248"/>
            <a:ext cx="4069080" cy="594360"/>
          </a:xfrm>
          <a:prstGeom prst="rect">
            <a:avLst/>
          </a:prstGeom>
          <a:noFill/>
          <a:ln/>
        </p:spPr>
        <p:txBody>
          <a:bodyPr wrap="square" lIns="0" tIns="0" rIns="0" bIns="0" rtlCol="0" anchor="ctr"/>
          <a:lstStyle/>
          <a:p>
            <a:pPr marL="0" indent="0">
              <a:buNone/>
            </a:pPr>
            <a:r>
              <a:rPr lang="en-US" sz="1300" dirty="0">
                <a:solidFill>
                  <a:srgbClr val="5B7482"/>
                </a:solidFill>
                <a:latin typeface="Calibri" pitchFamily="34" charset="0"/>
                <a:ea typeface="Calibri" pitchFamily="34" charset="-122"/>
                <a:cs typeface="Calibri" pitchFamily="34" charset="-120"/>
              </a:rPr>
              <a:t>Google Docs, Microsoft 365</a:t>
            </a:r>
            <a:endParaRPr lang="en-US" sz="1300" dirty="0"/>
          </a:p>
        </p:txBody>
      </p:sp>
      <p:sp>
        <p:nvSpPr>
          <p:cNvPr id="13" name="Shape 11"/>
          <p:cNvSpPr/>
          <p:nvPr/>
        </p:nvSpPr>
        <p:spPr>
          <a:xfrm>
            <a:off x="640080" y="2990088"/>
            <a:ext cx="5257800" cy="1298448"/>
          </a:xfrm>
          <a:prstGeom prst="roundRect">
            <a:avLst>
              <a:gd name="adj" fmla="val 6338"/>
            </a:avLst>
          </a:prstGeom>
          <a:solidFill>
            <a:srgbClr val="FFFFFF"/>
          </a:solidFill>
          <a:ln w="12700">
            <a:solidFill>
              <a:srgbClr val="DCE7EC"/>
            </a:solidFill>
            <a:prstDash val="solid"/>
          </a:ln>
          <a:effectLst>
            <a:outerShdw blurRad="76200" dist="25400" dir="5400000" algn="bl" rotWithShape="0">
              <a:srgbClr val="1C7293">
                <a:alpha val="15000"/>
              </a:srgbClr>
            </a:outerShdw>
          </a:effectLst>
        </p:spPr>
      </p:sp>
      <p:sp>
        <p:nvSpPr>
          <p:cNvPr id="14" name="Shape 12"/>
          <p:cNvSpPr/>
          <p:nvPr/>
        </p:nvSpPr>
        <p:spPr>
          <a:xfrm>
            <a:off x="841248" y="3337560"/>
            <a:ext cx="603504" cy="603504"/>
          </a:xfrm>
          <a:prstGeom prst="ellipse">
            <a:avLst/>
          </a:prstGeom>
          <a:solidFill>
            <a:srgbClr val="CFE8F3"/>
          </a:solidFill>
          <a:ln/>
        </p:spPr>
      </p:sp>
      <p:sp>
        <p:nvSpPr>
          <p:cNvPr id="15" name="Text 13"/>
          <p:cNvSpPr txBox="1"/>
          <p:nvPr/>
        </p:nvSpPr>
        <p:spPr>
          <a:xfrm>
            <a:off x="841248" y="3337560"/>
            <a:ext cx="603504" cy="603504"/>
          </a:xfrm>
          <a:prstGeom prst="rect">
            <a:avLst/>
          </a:prstGeom>
          <a:noFill/>
          <a:ln/>
        </p:spPr>
        <p:txBody>
          <a:bodyPr wrap="square" lIns="0" tIns="0" rIns="0" bIns="0" rtlCol="0" anchor="ctr"/>
          <a:lstStyle/>
          <a:p>
            <a:pPr marL="0" indent="0" algn="ctr">
              <a:buNone/>
            </a:pPr>
            <a:r>
              <a:rPr lang="en-US" sz="2600" dirty="0"/>
              <a:t>2</a:t>
            </a:r>
          </a:p>
        </p:txBody>
      </p:sp>
      <p:sp>
        <p:nvSpPr>
          <p:cNvPr id="16" name="Text 14"/>
          <p:cNvSpPr txBox="1"/>
          <p:nvPr/>
        </p:nvSpPr>
        <p:spPr>
          <a:xfrm>
            <a:off x="1645920" y="3154680"/>
            <a:ext cx="4069080" cy="365760"/>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Обучение</a:t>
            </a:r>
            <a:endParaRPr lang="en-US" sz="1600" dirty="0"/>
          </a:p>
        </p:txBody>
      </p:sp>
      <p:sp>
        <p:nvSpPr>
          <p:cNvPr id="17" name="Text 15"/>
          <p:cNvSpPr txBox="1"/>
          <p:nvPr/>
        </p:nvSpPr>
        <p:spPr>
          <a:xfrm>
            <a:off x="1645920" y="3557016"/>
            <a:ext cx="4069080" cy="594360"/>
          </a:xfrm>
          <a:prstGeom prst="rect">
            <a:avLst/>
          </a:prstGeom>
          <a:noFill/>
          <a:ln/>
        </p:spPr>
        <p:txBody>
          <a:bodyPr wrap="square" lIns="0" tIns="0" rIns="0" bIns="0" rtlCol="0" anchor="ctr"/>
          <a:lstStyle/>
          <a:p>
            <a:pPr marL="0" indent="0">
              <a:buNone/>
            </a:pPr>
            <a:r>
              <a:rPr lang="en-US" sz="1300" dirty="0">
                <a:solidFill>
                  <a:srgbClr val="5B7482"/>
                </a:solidFill>
                <a:latin typeface="Calibri" pitchFamily="34" charset="0"/>
                <a:ea typeface="Calibri" pitchFamily="34" charset="-122"/>
                <a:cs typeface="Calibri" pitchFamily="34" charset="-120"/>
              </a:rPr>
              <a:t>Moodle, Google Classroom</a:t>
            </a:r>
            <a:endParaRPr lang="en-US" sz="1300" dirty="0"/>
          </a:p>
        </p:txBody>
      </p:sp>
      <p:sp>
        <p:nvSpPr>
          <p:cNvPr id="18" name="Shape 16"/>
          <p:cNvSpPr/>
          <p:nvPr/>
        </p:nvSpPr>
        <p:spPr>
          <a:xfrm>
            <a:off x="6263640" y="2990088"/>
            <a:ext cx="5257800" cy="1298448"/>
          </a:xfrm>
          <a:prstGeom prst="roundRect">
            <a:avLst>
              <a:gd name="adj" fmla="val 6338"/>
            </a:avLst>
          </a:prstGeom>
          <a:solidFill>
            <a:srgbClr val="FFFFFF"/>
          </a:solidFill>
          <a:ln w="12700">
            <a:solidFill>
              <a:srgbClr val="DCE7EC"/>
            </a:solidFill>
            <a:prstDash val="solid"/>
          </a:ln>
          <a:effectLst>
            <a:outerShdw blurRad="76200" dist="25400" dir="5400000" algn="bl" rotWithShape="0">
              <a:srgbClr val="1C7293">
                <a:alpha val="15000"/>
              </a:srgbClr>
            </a:outerShdw>
          </a:effectLst>
        </p:spPr>
      </p:sp>
      <p:sp>
        <p:nvSpPr>
          <p:cNvPr id="19" name="Shape 17"/>
          <p:cNvSpPr/>
          <p:nvPr/>
        </p:nvSpPr>
        <p:spPr>
          <a:xfrm>
            <a:off x="6464808" y="3337560"/>
            <a:ext cx="603504" cy="603504"/>
          </a:xfrm>
          <a:prstGeom prst="ellipse">
            <a:avLst/>
          </a:prstGeom>
          <a:solidFill>
            <a:srgbClr val="CFE8F3"/>
          </a:solidFill>
          <a:ln/>
        </p:spPr>
      </p:sp>
      <p:sp>
        <p:nvSpPr>
          <p:cNvPr id="20" name="Text 18"/>
          <p:cNvSpPr txBox="1"/>
          <p:nvPr/>
        </p:nvSpPr>
        <p:spPr>
          <a:xfrm>
            <a:off x="6464808" y="3337560"/>
            <a:ext cx="603504" cy="603504"/>
          </a:xfrm>
          <a:prstGeom prst="rect">
            <a:avLst/>
          </a:prstGeom>
          <a:noFill/>
          <a:ln/>
        </p:spPr>
        <p:txBody>
          <a:bodyPr wrap="square" lIns="0" tIns="0" rIns="0" bIns="0" rtlCol="0" anchor="ctr"/>
          <a:lstStyle/>
          <a:p>
            <a:pPr marL="0" indent="0" algn="ctr">
              <a:buNone/>
            </a:pPr>
            <a:r>
              <a:rPr lang="en-US" sz="2600" dirty="0"/>
              <a:t>5</a:t>
            </a:r>
          </a:p>
        </p:txBody>
      </p:sp>
      <p:sp>
        <p:nvSpPr>
          <p:cNvPr id="21" name="Text 19"/>
          <p:cNvSpPr txBox="1"/>
          <p:nvPr/>
        </p:nvSpPr>
        <p:spPr>
          <a:xfrm>
            <a:off x="7269480" y="3154680"/>
            <a:ext cx="4069080" cy="365760"/>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Общение</a:t>
            </a:r>
            <a:endParaRPr lang="en-US" sz="1600" dirty="0"/>
          </a:p>
        </p:txBody>
      </p:sp>
      <p:sp>
        <p:nvSpPr>
          <p:cNvPr id="22" name="Text 20"/>
          <p:cNvSpPr txBox="1"/>
          <p:nvPr/>
        </p:nvSpPr>
        <p:spPr>
          <a:xfrm>
            <a:off x="7269480" y="3557016"/>
            <a:ext cx="4069080" cy="594360"/>
          </a:xfrm>
          <a:prstGeom prst="rect">
            <a:avLst/>
          </a:prstGeom>
          <a:noFill/>
          <a:ln/>
        </p:spPr>
        <p:txBody>
          <a:bodyPr wrap="square" lIns="0" tIns="0" rIns="0" bIns="0" rtlCol="0" anchor="ctr"/>
          <a:lstStyle/>
          <a:p>
            <a:pPr marL="0" indent="0">
              <a:buNone/>
            </a:pPr>
            <a:r>
              <a:rPr lang="en-US" sz="1300" dirty="0">
                <a:solidFill>
                  <a:srgbClr val="5B7482"/>
                </a:solidFill>
                <a:latin typeface="Calibri" pitchFamily="34" charset="0"/>
                <a:ea typeface="Calibri" pitchFamily="34" charset="-122"/>
                <a:cs typeface="Calibri" pitchFamily="34" charset="-120"/>
              </a:rPr>
              <a:t>Microsoft Teams, Zoom</a:t>
            </a:r>
            <a:endParaRPr lang="en-US" sz="1300" dirty="0"/>
          </a:p>
        </p:txBody>
      </p:sp>
      <p:sp>
        <p:nvSpPr>
          <p:cNvPr id="23" name="Shape 21"/>
          <p:cNvSpPr/>
          <p:nvPr/>
        </p:nvSpPr>
        <p:spPr>
          <a:xfrm>
            <a:off x="640080" y="4562856"/>
            <a:ext cx="5257800" cy="1298448"/>
          </a:xfrm>
          <a:prstGeom prst="roundRect">
            <a:avLst>
              <a:gd name="adj" fmla="val 6338"/>
            </a:avLst>
          </a:prstGeom>
          <a:solidFill>
            <a:srgbClr val="FFFFFF"/>
          </a:solidFill>
          <a:ln w="12700">
            <a:solidFill>
              <a:srgbClr val="DCE7EC"/>
            </a:solidFill>
            <a:prstDash val="solid"/>
          </a:ln>
          <a:effectLst>
            <a:outerShdw blurRad="76200" dist="25400" dir="5400000" algn="bl" rotWithShape="0">
              <a:srgbClr val="1C7293">
                <a:alpha val="15000"/>
              </a:srgbClr>
            </a:outerShdw>
          </a:effectLst>
        </p:spPr>
      </p:sp>
      <p:sp>
        <p:nvSpPr>
          <p:cNvPr id="24" name="Shape 22"/>
          <p:cNvSpPr/>
          <p:nvPr/>
        </p:nvSpPr>
        <p:spPr>
          <a:xfrm>
            <a:off x="841248" y="4910328"/>
            <a:ext cx="603504" cy="603504"/>
          </a:xfrm>
          <a:prstGeom prst="ellipse">
            <a:avLst/>
          </a:prstGeom>
          <a:solidFill>
            <a:srgbClr val="CFE8F3"/>
          </a:solidFill>
          <a:ln/>
        </p:spPr>
      </p:sp>
      <p:sp>
        <p:nvSpPr>
          <p:cNvPr id="25" name="Text 23"/>
          <p:cNvSpPr txBox="1"/>
          <p:nvPr/>
        </p:nvSpPr>
        <p:spPr>
          <a:xfrm>
            <a:off x="841248" y="4910328"/>
            <a:ext cx="603504" cy="603504"/>
          </a:xfrm>
          <a:prstGeom prst="rect">
            <a:avLst/>
          </a:prstGeom>
          <a:noFill/>
          <a:ln/>
        </p:spPr>
        <p:txBody>
          <a:bodyPr wrap="square" lIns="0" tIns="0" rIns="0" bIns="0" rtlCol="0" anchor="ctr"/>
          <a:lstStyle/>
          <a:p>
            <a:pPr marL="0" indent="0" algn="ctr">
              <a:buNone/>
            </a:pPr>
            <a:r>
              <a:rPr lang="en-US" sz="2600" dirty="0"/>
              <a:t>3</a:t>
            </a:r>
          </a:p>
        </p:txBody>
      </p:sp>
      <p:sp>
        <p:nvSpPr>
          <p:cNvPr id="26" name="Text 24"/>
          <p:cNvSpPr txBox="1"/>
          <p:nvPr/>
        </p:nvSpPr>
        <p:spPr>
          <a:xfrm>
            <a:off x="1645920" y="4727448"/>
            <a:ext cx="4069080" cy="365760"/>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Исследования</a:t>
            </a:r>
            <a:endParaRPr lang="en-US" sz="1600" dirty="0"/>
          </a:p>
        </p:txBody>
      </p:sp>
      <p:sp>
        <p:nvSpPr>
          <p:cNvPr id="27" name="Text 25"/>
          <p:cNvSpPr txBox="1"/>
          <p:nvPr/>
        </p:nvSpPr>
        <p:spPr>
          <a:xfrm>
            <a:off x="1645920" y="5129784"/>
            <a:ext cx="4069080" cy="594360"/>
          </a:xfrm>
          <a:prstGeom prst="rect">
            <a:avLst/>
          </a:prstGeom>
          <a:noFill/>
          <a:ln/>
        </p:spPr>
        <p:txBody>
          <a:bodyPr wrap="square" lIns="0" tIns="0" rIns="0" bIns="0" rtlCol="0" anchor="ctr"/>
          <a:lstStyle/>
          <a:p>
            <a:pPr marL="0" indent="0">
              <a:buNone/>
            </a:pPr>
            <a:r>
              <a:rPr lang="en-US" sz="1300" dirty="0">
                <a:solidFill>
                  <a:srgbClr val="5B7482"/>
                </a:solidFill>
                <a:latin typeface="Calibri" pitchFamily="34" charset="0"/>
                <a:ea typeface="Calibri" pitchFamily="34" charset="-122"/>
                <a:cs typeface="Calibri" pitchFamily="34" charset="-120"/>
              </a:rPr>
              <a:t>Cloud Computing</a:t>
            </a:r>
            <a:endParaRPr lang="en-US" sz="1300" dirty="0"/>
          </a:p>
        </p:txBody>
      </p:sp>
      <p:sp>
        <p:nvSpPr>
          <p:cNvPr id="28" name="Shape 26"/>
          <p:cNvSpPr/>
          <p:nvPr/>
        </p:nvSpPr>
        <p:spPr>
          <a:xfrm>
            <a:off x="6263640" y="4562856"/>
            <a:ext cx="5257800" cy="1298448"/>
          </a:xfrm>
          <a:prstGeom prst="roundRect">
            <a:avLst>
              <a:gd name="adj" fmla="val 6338"/>
            </a:avLst>
          </a:prstGeom>
          <a:solidFill>
            <a:srgbClr val="FFFFFF"/>
          </a:solidFill>
          <a:ln w="12700">
            <a:solidFill>
              <a:srgbClr val="DCE7EC"/>
            </a:solidFill>
            <a:prstDash val="solid"/>
          </a:ln>
          <a:effectLst>
            <a:outerShdw blurRad="76200" dist="25400" dir="5400000" algn="bl" rotWithShape="0">
              <a:srgbClr val="1C7293">
                <a:alpha val="15000"/>
              </a:srgbClr>
            </a:outerShdw>
          </a:effectLst>
        </p:spPr>
      </p:sp>
      <p:sp>
        <p:nvSpPr>
          <p:cNvPr id="29" name="Shape 27"/>
          <p:cNvSpPr/>
          <p:nvPr/>
        </p:nvSpPr>
        <p:spPr>
          <a:xfrm>
            <a:off x="6464808" y="4910328"/>
            <a:ext cx="603504" cy="603504"/>
          </a:xfrm>
          <a:prstGeom prst="ellipse">
            <a:avLst/>
          </a:prstGeom>
          <a:solidFill>
            <a:srgbClr val="CFE8F3"/>
          </a:solidFill>
          <a:ln/>
        </p:spPr>
      </p:sp>
      <p:sp>
        <p:nvSpPr>
          <p:cNvPr id="30" name="Text 28"/>
          <p:cNvSpPr txBox="1"/>
          <p:nvPr/>
        </p:nvSpPr>
        <p:spPr>
          <a:xfrm>
            <a:off x="6464808" y="4910328"/>
            <a:ext cx="603504" cy="603504"/>
          </a:xfrm>
          <a:prstGeom prst="rect">
            <a:avLst/>
          </a:prstGeom>
          <a:noFill/>
          <a:ln/>
        </p:spPr>
        <p:txBody>
          <a:bodyPr wrap="square" lIns="0" tIns="0" rIns="0" bIns="0" rtlCol="0" anchor="ctr"/>
          <a:lstStyle/>
          <a:p>
            <a:pPr marL="0" indent="0" algn="ctr">
              <a:buNone/>
            </a:pPr>
            <a:r>
              <a:rPr lang="en-US" sz="2600" dirty="0"/>
              <a:t>6</a:t>
            </a:r>
          </a:p>
        </p:txBody>
      </p:sp>
      <p:sp>
        <p:nvSpPr>
          <p:cNvPr id="31" name="Text 29"/>
          <p:cNvSpPr txBox="1"/>
          <p:nvPr/>
        </p:nvSpPr>
        <p:spPr>
          <a:xfrm>
            <a:off x="7269480" y="4727448"/>
            <a:ext cx="4069080" cy="365760"/>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Разработка</a:t>
            </a:r>
            <a:endParaRPr lang="en-US" sz="1600" dirty="0"/>
          </a:p>
        </p:txBody>
      </p:sp>
      <p:sp>
        <p:nvSpPr>
          <p:cNvPr id="32" name="Text 30"/>
          <p:cNvSpPr txBox="1"/>
          <p:nvPr/>
        </p:nvSpPr>
        <p:spPr>
          <a:xfrm>
            <a:off x="7269480" y="5129784"/>
            <a:ext cx="4069080" cy="594360"/>
          </a:xfrm>
          <a:prstGeom prst="rect">
            <a:avLst/>
          </a:prstGeom>
          <a:noFill/>
          <a:ln/>
        </p:spPr>
        <p:txBody>
          <a:bodyPr wrap="square" lIns="0" tIns="0" rIns="0" bIns="0" rtlCol="0" anchor="ctr"/>
          <a:lstStyle/>
          <a:p>
            <a:pPr marL="0" indent="0">
              <a:buNone/>
            </a:pPr>
            <a:r>
              <a:rPr lang="en-US" sz="1300" dirty="0">
                <a:solidFill>
                  <a:srgbClr val="5B7482"/>
                </a:solidFill>
                <a:latin typeface="Calibri" pitchFamily="34" charset="0"/>
                <a:ea typeface="Calibri" pitchFamily="34" charset="-122"/>
                <a:cs typeface="Calibri" pitchFamily="34" charset="-120"/>
              </a:rPr>
              <a:t>GitHub, Cloud IDE</a:t>
            </a:r>
            <a:endParaRPr lang="en-US" sz="1300" dirty="0"/>
          </a:p>
        </p:txBody>
      </p:sp>
      <p:sp>
        <p:nvSpPr>
          <p:cNvPr id="33" name="Text 31"/>
          <p:cNvSpPr txBox="1"/>
          <p:nvPr/>
        </p:nvSpPr>
        <p:spPr>
          <a:xfrm>
            <a:off x="11457432" y="6400800"/>
            <a:ext cx="457200" cy="274320"/>
          </a:xfrm>
          <a:prstGeom prst="rect">
            <a:avLst/>
          </a:prstGeom>
          <a:noFill/>
          <a:ln/>
        </p:spPr>
        <p:txBody>
          <a:bodyPr wrap="square" lIns="0" tIns="0" rIns="0" bIns="0" rtlCol="0" anchor="ctr"/>
          <a:lstStyle/>
          <a:p>
            <a:pPr marL="0" indent="0" algn="r">
              <a:buNone/>
            </a:pPr>
            <a:r>
              <a:rPr lang="en-US" sz="1000" dirty="0">
                <a:solidFill>
                  <a:srgbClr val="5B748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142433"/>
                </a:solidFill>
                <a:latin typeface="Cambria" pitchFamily="34" charset="0"/>
                <a:ea typeface="Cambria" pitchFamily="34" charset="-122"/>
                <a:cs typeface="Cambria" pitchFamily="34" charset="-120"/>
              </a:rPr>
              <a:t>Основные преимущества</a:t>
            </a:r>
            <a:endParaRPr lang="en-US" sz="3200" dirty="0"/>
          </a:p>
        </p:txBody>
      </p:sp>
      <p:sp>
        <p:nvSpPr>
          <p:cNvPr id="3" name="Shape 1"/>
          <p:cNvSpPr/>
          <p:nvPr/>
        </p:nvSpPr>
        <p:spPr>
          <a:xfrm>
            <a:off x="731520" y="1463040"/>
            <a:ext cx="621792" cy="621792"/>
          </a:xfrm>
          <a:prstGeom prst="ellipse">
            <a:avLst/>
          </a:prstGeom>
          <a:solidFill>
            <a:srgbClr val="1C7293"/>
          </a:solidFill>
          <a:ln/>
        </p:spPr>
      </p:sp>
      <p:sp>
        <p:nvSpPr>
          <p:cNvPr id="4" name="Text 2"/>
          <p:cNvSpPr txBox="1"/>
          <p:nvPr/>
        </p:nvSpPr>
        <p:spPr>
          <a:xfrm>
            <a:off x="731520" y="1463040"/>
            <a:ext cx="621792" cy="621792"/>
          </a:xfrm>
          <a:prstGeom prst="rect">
            <a:avLst/>
          </a:prstGeom>
          <a:noFill/>
          <a:ln/>
        </p:spPr>
        <p:txBody>
          <a:bodyPr wrap="square" lIns="0" tIns="0" rIns="0" bIns="0" rtlCol="0" anchor="ctr"/>
          <a:lstStyle/>
          <a:p>
            <a:pPr marL="0" indent="0" algn="ctr">
              <a:buNone/>
            </a:pPr>
            <a:r>
              <a:rPr lang="en-US" sz="2600" dirty="0"/>
              <a:t>1</a:t>
            </a:r>
          </a:p>
        </p:txBody>
      </p:sp>
      <p:sp>
        <p:nvSpPr>
          <p:cNvPr id="5" name="Text 3"/>
          <p:cNvSpPr txBox="1"/>
          <p:nvPr/>
        </p:nvSpPr>
        <p:spPr>
          <a:xfrm>
            <a:off x="1600200" y="1444752"/>
            <a:ext cx="3017520" cy="621792"/>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Доступность</a:t>
            </a:r>
            <a:endParaRPr lang="en-US" sz="1600" dirty="0"/>
          </a:p>
        </p:txBody>
      </p:sp>
      <p:sp>
        <p:nvSpPr>
          <p:cNvPr id="6" name="Text 4"/>
          <p:cNvSpPr txBox="1"/>
          <p:nvPr/>
        </p:nvSpPr>
        <p:spPr>
          <a:xfrm>
            <a:off x="4754880" y="1444752"/>
            <a:ext cx="6766560" cy="621792"/>
          </a:xfrm>
          <a:prstGeom prst="rect">
            <a:avLst/>
          </a:prstGeom>
          <a:noFill/>
          <a:ln/>
        </p:spPr>
        <p:txBody>
          <a:bodyPr wrap="square" lIns="0" tIns="0" rIns="0" bIns="0" rtlCol="0" anchor="ctr"/>
          <a:lstStyle/>
          <a:p>
            <a:pPr marL="0" indent="0">
              <a:buNone/>
            </a:pPr>
            <a:r>
              <a:rPr lang="en-US" sz="1400" dirty="0">
                <a:solidFill>
                  <a:srgbClr val="5B7482"/>
                </a:solidFill>
                <a:latin typeface="Calibri" pitchFamily="34" charset="0"/>
                <a:ea typeface="Calibri" pitchFamily="34" charset="-122"/>
                <a:cs typeface="Calibri" pitchFamily="34" charset="-120"/>
              </a:rPr>
              <a:t>Доступ к материалам из любого места</a:t>
            </a:r>
            <a:endParaRPr lang="en-US" sz="1400" dirty="0"/>
          </a:p>
        </p:txBody>
      </p:sp>
      <p:sp>
        <p:nvSpPr>
          <p:cNvPr id="7" name="Shape 5"/>
          <p:cNvSpPr/>
          <p:nvPr/>
        </p:nvSpPr>
        <p:spPr>
          <a:xfrm>
            <a:off x="731520" y="2395728"/>
            <a:ext cx="621792" cy="621792"/>
          </a:xfrm>
          <a:prstGeom prst="ellipse">
            <a:avLst/>
          </a:prstGeom>
          <a:solidFill>
            <a:srgbClr val="065A82"/>
          </a:solidFill>
          <a:ln/>
        </p:spPr>
      </p:sp>
      <p:sp>
        <p:nvSpPr>
          <p:cNvPr id="8" name="Text 6"/>
          <p:cNvSpPr txBox="1"/>
          <p:nvPr/>
        </p:nvSpPr>
        <p:spPr>
          <a:xfrm>
            <a:off x="731520" y="2395728"/>
            <a:ext cx="621792" cy="621792"/>
          </a:xfrm>
          <a:prstGeom prst="rect">
            <a:avLst/>
          </a:prstGeom>
          <a:noFill/>
          <a:ln/>
        </p:spPr>
        <p:txBody>
          <a:bodyPr wrap="square" lIns="0" tIns="0" rIns="0" bIns="0" rtlCol="0" anchor="ctr"/>
          <a:lstStyle/>
          <a:p>
            <a:pPr marL="0" indent="0" algn="ctr">
              <a:buNone/>
            </a:pPr>
            <a:r>
              <a:rPr lang="en-US" sz="2600" dirty="0"/>
              <a:t>2</a:t>
            </a:r>
          </a:p>
        </p:txBody>
      </p:sp>
      <p:sp>
        <p:nvSpPr>
          <p:cNvPr id="9" name="Text 7"/>
          <p:cNvSpPr txBox="1"/>
          <p:nvPr/>
        </p:nvSpPr>
        <p:spPr>
          <a:xfrm>
            <a:off x="1600200" y="2377440"/>
            <a:ext cx="3017520" cy="621792"/>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Совместная работа</a:t>
            </a:r>
            <a:endParaRPr lang="en-US" sz="1600" dirty="0"/>
          </a:p>
        </p:txBody>
      </p:sp>
      <p:sp>
        <p:nvSpPr>
          <p:cNvPr id="10" name="Text 8"/>
          <p:cNvSpPr txBox="1"/>
          <p:nvPr/>
        </p:nvSpPr>
        <p:spPr>
          <a:xfrm>
            <a:off x="4754880" y="2377440"/>
            <a:ext cx="6766560" cy="621792"/>
          </a:xfrm>
          <a:prstGeom prst="rect">
            <a:avLst/>
          </a:prstGeom>
          <a:noFill/>
          <a:ln/>
        </p:spPr>
        <p:txBody>
          <a:bodyPr wrap="square" lIns="0" tIns="0" rIns="0" bIns="0" rtlCol="0" anchor="ctr"/>
          <a:lstStyle/>
          <a:p>
            <a:pPr marL="0" indent="0">
              <a:buNone/>
            </a:pPr>
            <a:r>
              <a:rPr lang="en-US" sz="1400" dirty="0">
                <a:solidFill>
                  <a:srgbClr val="5B7482"/>
                </a:solidFill>
                <a:latin typeface="Calibri" pitchFamily="34" charset="0"/>
                <a:ea typeface="Calibri" pitchFamily="34" charset="-122"/>
                <a:cs typeface="Calibri" pitchFamily="34" charset="-120"/>
              </a:rPr>
              <a:t>Одновременная работа нескольких пользователей</a:t>
            </a:r>
            <a:endParaRPr lang="en-US" sz="1400" dirty="0"/>
          </a:p>
        </p:txBody>
      </p:sp>
      <p:sp>
        <p:nvSpPr>
          <p:cNvPr id="11" name="Shape 9"/>
          <p:cNvSpPr/>
          <p:nvPr/>
        </p:nvSpPr>
        <p:spPr>
          <a:xfrm>
            <a:off x="731520" y="3328416"/>
            <a:ext cx="621792" cy="621792"/>
          </a:xfrm>
          <a:prstGeom prst="ellipse">
            <a:avLst/>
          </a:prstGeom>
          <a:solidFill>
            <a:srgbClr val="1C7293"/>
          </a:solidFill>
          <a:ln/>
        </p:spPr>
      </p:sp>
      <p:sp>
        <p:nvSpPr>
          <p:cNvPr id="12" name="Text 10"/>
          <p:cNvSpPr txBox="1"/>
          <p:nvPr/>
        </p:nvSpPr>
        <p:spPr>
          <a:xfrm>
            <a:off x="731520" y="3328416"/>
            <a:ext cx="621792" cy="621792"/>
          </a:xfrm>
          <a:prstGeom prst="rect">
            <a:avLst/>
          </a:prstGeom>
          <a:noFill/>
          <a:ln/>
        </p:spPr>
        <p:txBody>
          <a:bodyPr wrap="square" lIns="0" tIns="0" rIns="0" bIns="0" rtlCol="0" anchor="ctr"/>
          <a:lstStyle/>
          <a:p>
            <a:pPr marL="0" indent="0" algn="ctr">
              <a:buNone/>
            </a:pPr>
            <a:r>
              <a:rPr lang="en-US" sz="2600" dirty="0"/>
              <a:t>3</a:t>
            </a:r>
          </a:p>
        </p:txBody>
      </p:sp>
      <p:sp>
        <p:nvSpPr>
          <p:cNvPr id="13" name="Text 11"/>
          <p:cNvSpPr txBox="1"/>
          <p:nvPr/>
        </p:nvSpPr>
        <p:spPr>
          <a:xfrm>
            <a:off x="1600200" y="3310128"/>
            <a:ext cx="3017520" cy="621792"/>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Экономия</a:t>
            </a:r>
            <a:endParaRPr lang="en-US" sz="1600" dirty="0"/>
          </a:p>
        </p:txBody>
      </p:sp>
      <p:sp>
        <p:nvSpPr>
          <p:cNvPr id="14" name="Text 12"/>
          <p:cNvSpPr txBox="1"/>
          <p:nvPr/>
        </p:nvSpPr>
        <p:spPr>
          <a:xfrm>
            <a:off x="4754880" y="3310128"/>
            <a:ext cx="6766560" cy="621792"/>
          </a:xfrm>
          <a:prstGeom prst="rect">
            <a:avLst/>
          </a:prstGeom>
          <a:noFill/>
          <a:ln/>
        </p:spPr>
        <p:txBody>
          <a:bodyPr wrap="square" lIns="0" tIns="0" rIns="0" bIns="0" rtlCol="0" anchor="ctr"/>
          <a:lstStyle/>
          <a:p>
            <a:pPr marL="0" indent="0">
              <a:buNone/>
            </a:pPr>
            <a:r>
              <a:rPr lang="en-US" sz="1400" dirty="0">
                <a:solidFill>
                  <a:srgbClr val="5B7482"/>
                </a:solidFill>
                <a:latin typeface="Calibri" pitchFamily="34" charset="0"/>
                <a:ea typeface="Calibri" pitchFamily="34" charset="-122"/>
                <a:cs typeface="Calibri" pitchFamily="34" charset="-120"/>
              </a:rPr>
              <a:t>Меньше затрат на собственную инфраструктуру</a:t>
            </a:r>
            <a:endParaRPr lang="en-US" sz="1400" dirty="0"/>
          </a:p>
        </p:txBody>
      </p:sp>
      <p:sp>
        <p:nvSpPr>
          <p:cNvPr id="15" name="Shape 13"/>
          <p:cNvSpPr/>
          <p:nvPr/>
        </p:nvSpPr>
        <p:spPr>
          <a:xfrm>
            <a:off x="731520" y="4261104"/>
            <a:ext cx="621792" cy="621792"/>
          </a:xfrm>
          <a:prstGeom prst="ellipse">
            <a:avLst/>
          </a:prstGeom>
          <a:solidFill>
            <a:srgbClr val="065A82"/>
          </a:solidFill>
          <a:ln/>
        </p:spPr>
      </p:sp>
      <p:sp>
        <p:nvSpPr>
          <p:cNvPr id="16" name="Text 14"/>
          <p:cNvSpPr txBox="1"/>
          <p:nvPr/>
        </p:nvSpPr>
        <p:spPr>
          <a:xfrm>
            <a:off x="731520" y="4261104"/>
            <a:ext cx="621792" cy="621792"/>
          </a:xfrm>
          <a:prstGeom prst="rect">
            <a:avLst/>
          </a:prstGeom>
          <a:noFill/>
          <a:ln/>
        </p:spPr>
        <p:txBody>
          <a:bodyPr wrap="square" lIns="0" tIns="0" rIns="0" bIns="0" rtlCol="0" anchor="ctr"/>
          <a:lstStyle/>
          <a:p>
            <a:pPr marL="0" indent="0" algn="ctr">
              <a:buNone/>
            </a:pPr>
            <a:r>
              <a:rPr lang="en-US" sz="2600" dirty="0"/>
              <a:t>4</a:t>
            </a:r>
          </a:p>
        </p:txBody>
      </p:sp>
      <p:sp>
        <p:nvSpPr>
          <p:cNvPr id="17" name="Text 15"/>
          <p:cNvSpPr txBox="1"/>
          <p:nvPr/>
        </p:nvSpPr>
        <p:spPr>
          <a:xfrm>
            <a:off x="1600200" y="4242816"/>
            <a:ext cx="3017520" cy="621792"/>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Масштабируемость</a:t>
            </a:r>
            <a:endParaRPr lang="en-US" sz="1600" dirty="0"/>
          </a:p>
        </p:txBody>
      </p:sp>
      <p:sp>
        <p:nvSpPr>
          <p:cNvPr id="18" name="Text 16"/>
          <p:cNvSpPr txBox="1"/>
          <p:nvPr/>
        </p:nvSpPr>
        <p:spPr>
          <a:xfrm>
            <a:off x="4754880" y="4242816"/>
            <a:ext cx="6766560" cy="621792"/>
          </a:xfrm>
          <a:prstGeom prst="rect">
            <a:avLst/>
          </a:prstGeom>
          <a:noFill/>
          <a:ln/>
        </p:spPr>
        <p:txBody>
          <a:bodyPr wrap="square" lIns="0" tIns="0" rIns="0" bIns="0" rtlCol="0" anchor="ctr"/>
          <a:lstStyle/>
          <a:p>
            <a:pPr marL="0" indent="0">
              <a:buNone/>
            </a:pPr>
            <a:r>
              <a:rPr lang="en-US" sz="1400" dirty="0">
                <a:solidFill>
                  <a:srgbClr val="5B7482"/>
                </a:solidFill>
                <a:latin typeface="Calibri" pitchFamily="34" charset="0"/>
                <a:ea typeface="Calibri" pitchFamily="34" charset="-122"/>
                <a:cs typeface="Calibri" pitchFamily="34" charset="-120"/>
              </a:rPr>
              <a:t>Можно увеличивать ресурсы при необходимости</a:t>
            </a:r>
            <a:endParaRPr lang="en-US" sz="1400" dirty="0"/>
          </a:p>
        </p:txBody>
      </p:sp>
      <p:sp>
        <p:nvSpPr>
          <p:cNvPr id="19" name="Shape 17"/>
          <p:cNvSpPr/>
          <p:nvPr/>
        </p:nvSpPr>
        <p:spPr>
          <a:xfrm>
            <a:off x="731520" y="5193792"/>
            <a:ext cx="621792" cy="621792"/>
          </a:xfrm>
          <a:prstGeom prst="ellipse">
            <a:avLst/>
          </a:prstGeom>
          <a:solidFill>
            <a:srgbClr val="1C7293"/>
          </a:solidFill>
          <a:ln/>
        </p:spPr>
      </p:sp>
      <p:sp>
        <p:nvSpPr>
          <p:cNvPr id="20" name="Text 18"/>
          <p:cNvSpPr txBox="1"/>
          <p:nvPr/>
        </p:nvSpPr>
        <p:spPr>
          <a:xfrm>
            <a:off x="731520" y="5193792"/>
            <a:ext cx="621792" cy="621792"/>
          </a:xfrm>
          <a:prstGeom prst="rect">
            <a:avLst/>
          </a:prstGeom>
          <a:noFill/>
          <a:ln/>
        </p:spPr>
        <p:txBody>
          <a:bodyPr wrap="square" lIns="0" tIns="0" rIns="0" bIns="0" rtlCol="0" anchor="ctr"/>
          <a:lstStyle/>
          <a:p>
            <a:pPr marL="0" indent="0" algn="ctr">
              <a:buNone/>
            </a:pPr>
            <a:r>
              <a:rPr lang="en-US" sz="2600" dirty="0"/>
              <a:t>5</a:t>
            </a:r>
          </a:p>
        </p:txBody>
      </p:sp>
      <p:sp>
        <p:nvSpPr>
          <p:cNvPr id="21" name="Text 19"/>
          <p:cNvSpPr txBox="1"/>
          <p:nvPr/>
        </p:nvSpPr>
        <p:spPr>
          <a:xfrm>
            <a:off x="1600200" y="5175504"/>
            <a:ext cx="3017520" cy="621792"/>
          </a:xfrm>
          <a:prstGeom prst="rect">
            <a:avLst/>
          </a:prstGeom>
          <a:noFill/>
          <a:ln/>
        </p:spPr>
        <p:txBody>
          <a:bodyPr wrap="square" lIns="0" tIns="0" rIns="0" bIns="0" rtlCol="0" anchor="ctr"/>
          <a:lstStyle/>
          <a:p>
            <a:pPr marL="0" indent="0">
              <a:buNone/>
            </a:pPr>
            <a:r>
              <a:rPr lang="en-US" sz="1600" b="1" dirty="0">
                <a:solidFill>
                  <a:srgbClr val="142433"/>
                </a:solidFill>
                <a:latin typeface="Calibri" pitchFamily="34" charset="0"/>
                <a:ea typeface="Calibri" pitchFamily="34" charset="-122"/>
                <a:cs typeface="Calibri" pitchFamily="34" charset="-120"/>
              </a:rPr>
              <a:t>Автообновления</a:t>
            </a:r>
            <a:endParaRPr lang="en-US" sz="1600" dirty="0"/>
          </a:p>
        </p:txBody>
      </p:sp>
      <p:sp>
        <p:nvSpPr>
          <p:cNvPr id="22" name="Text 20"/>
          <p:cNvSpPr txBox="1"/>
          <p:nvPr/>
        </p:nvSpPr>
        <p:spPr>
          <a:xfrm>
            <a:off x="4754880" y="5175504"/>
            <a:ext cx="6766560" cy="621792"/>
          </a:xfrm>
          <a:prstGeom prst="rect">
            <a:avLst/>
          </a:prstGeom>
          <a:noFill/>
          <a:ln/>
        </p:spPr>
        <p:txBody>
          <a:bodyPr wrap="square" lIns="0" tIns="0" rIns="0" bIns="0" rtlCol="0" anchor="ctr"/>
          <a:lstStyle/>
          <a:p>
            <a:pPr marL="0" indent="0">
              <a:buNone/>
            </a:pPr>
            <a:r>
              <a:rPr lang="en-US" sz="1400" dirty="0">
                <a:solidFill>
                  <a:srgbClr val="5B7482"/>
                </a:solidFill>
                <a:latin typeface="Calibri" pitchFamily="34" charset="0"/>
                <a:ea typeface="Calibri" pitchFamily="34" charset="-122"/>
                <a:cs typeface="Calibri" pitchFamily="34" charset="-120"/>
              </a:rPr>
              <a:t>Сервисы обновляются провайдером</a:t>
            </a:r>
            <a:endParaRPr lang="en-US" sz="1400" dirty="0"/>
          </a:p>
        </p:txBody>
      </p:sp>
      <p:sp>
        <p:nvSpPr>
          <p:cNvPr id="23" name="Text 21"/>
          <p:cNvSpPr txBox="1"/>
          <p:nvPr/>
        </p:nvSpPr>
        <p:spPr>
          <a:xfrm>
            <a:off x="11457432" y="6400800"/>
            <a:ext cx="457200" cy="274320"/>
          </a:xfrm>
          <a:prstGeom prst="rect">
            <a:avLst/>
          </a:prstGeom>
          <a:noFill/>
          <a:ln/>
        </p:spPr>
        <p:txBody>
          <a:bodyPr wrap="square" lIns="0" tIns="0" rIns="0" bIns="0" rtlCol="0" anchor="ctr"/>
          <a:lstStyle/>
          <a:p>
            <a:pPr marL="0" indent="0" algn="r">
              <a:buNone/>
            </a:pPr>
            <a:r>
              <a:rPr lang="en-US" sz="1000" dirty="0">
                <a:solidFill>
                  <a:srgbClr val="5B748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Как работает облачная образовательная система?</a:t>
            </a:r>
            <a:endParaRPr lang="en-US" sz="2700" dirty="0"/>
          </a:p>
        </p:txBody>
      </p:sp>
      <p:sp>
        <p:nvSpPr>
          <p:cNvPr id="3" name="Shape 1"/>
          <p:cNvSpPr/>
          <p:nvPr/>
        </p:nvSpPr>
        <p:spPr>
          <a:xfrm>
            <a:off x="4415409" y="2059686"/>
            <a:ext cx="2020824" cy="1399032"/>
          </a:xfrm>
          <a:prstGeom prst="ellipse">
            <a:avLst/>
          </a:prstGeom>
          <a:solidFill>
            <a:srgbClr val="1C7293">
              <a:alpha val="90000"/>
            </a:srgbClr>
          </a:solidFill>
          <a:ln/>
        </p:spPr>
      </p:sp>
      <p:sp>
        <p:nvSpPr>
          <p:cNvPr id="4" name="Shape 2"/>
          <p:cNvSpPr/>
          <p:nvPr/>
        </p:nvSpPr>
        <p:spPr>
          <a:xfrm>
            <a:off x="5177790" y="1579626"/>
            <a:ext cx="2331720" cy="1787652"/>
          </a:xfrm>
          <a:prstGeom prst="ellipse">
            <a:avLst/>
          </a:prstGeom>
          <a:solidFill>
            <a:srgbClr val="1C7293">
              <a:alpha val="90000"/>
            </a:srgbClr>
          </a:solidFill>
          <a:ln/>
        </p:spPr>
      </p:sp>
      <p:sp>
        <p:nvSpPr>
          <p:cNvPr id="5" name="Shape 3"/>
          <p:cNvSpPr/>
          <p:nvPr/>
        </p:nvSpPr>
        <p:spPr>
          <a:xfrm>
            <a:off x="6539103" y="2114550"/>
            <a:ext cx="1865376" cy="1321308"/>
          </a:xfrm>
          <a:prstGeom prst="ellipse">
            <a:avLst/>
          </a:prstGeom>
          <a:solidFill>
            <a:srgbClr val="1C7293">
              <a:alpha val="90000"/>
            </a:srgbClr>
          </a:solidFill>
          <a:ln/>
        </p:spPr>
      </p:sp>
      <p:sp>
        <p:nvSpPr>
          <p:cNvPr id="6" name="Shape 4"/>
          <p:cNvSpPr/>
          <p:nvPr/>
        </p:nvSpPr>
        <p:spPr>
          <a:xfrm>
            <a:off x="4773168" y="2455164"/>
            <a:ext cx="3419856" cy="1010412"/>
          </a:xfrm>
          <a:prstGeom prst="roundRect">
            <a:avLst>
              <a:gd name="adj" fmla="val 13575"/>
            </a:avLst>
          </a:prstGeom>
          <a:solidFill>
            <a:srgbClr val="1C7293">
              <a:alpha val="90000"/>
            </a:srgbClr>
          </a:solidFill>
          <a:ln/>
        </p:spPr>
      </p:sp>
      <p:sp>
        <p:nvSpPr>
          <p:cNvPr id="7" name="Text 5"/>
          <p:cNvSpPr txBox="1"/>
          <p:nvPr/>
        </p:nvSpPr>
        <p:spPr>
          <a:xfrm>
            <a:off x="4082796" y="2103120"/>
            <a:ext cx="402336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  ОБЛАЧНАЯ ПЛАТФОРМА</a:t>
            </a:r>
            <a:endParaRPr lang="en-US" sz="1700" dirty="0"/>
          </a:p>
        </p:txBody>
      </p:sp>
      <p:sp>
        <p:nvSpPr>
          <p:cNvPr id="8" name="Text 6"/>
          <p:cNvSpPr txBox="1"/>
          <p:nvPr/>
        </p:nvSpPr>
        <p:spPr>
          <a:xfrm>
            <a:off x="5820156" y="2651760"/>
            <a:ext cx="548640" cy="457200"/>
          </a:xfrm>
          <a:prstGeom prst="rect">
            <a:avLst/>
          </a:prstGeom>
          <a:noFill/>
          <a:ln/>
        </p:spPr>
        <p:txBody>
          <a:bodyPr wrap="square" lIns="0" tIns="0" rIns="0" bIns="0" rtlCol="0" anchor="ctr"/>
          <a:lstStyle/>
          <a:p>
            <a:pPr marL="0" indent="0" algn="ctr">
              <a:buNone/>
            </a:pPr>
            <a:r>
              <a:rPr lang="en-US" sz="2600" dirty="0">
                <a:solidFill>
                  <a:srgbClr val="CFE8F3"/>
                </a:solidFill>
              </a:rPr>
              <a:t>↓</a:t>
            </a:r>
            <a:endParaRPr lang="en-US" sz="2600" dirty="0"/>
          </a:p>
        </p:txBody>
      </p:sp>
      <p:sp>
        <p:nvSpPr>
          <p:cNvPr id="9" name="Text 7"/>
          <p:cNvSpPr txBox="1"/>
          <p:nvPr/>
        </p:nvSpPr>
        <p:spPr>
          <a:xfrm>
            <a:off x="1371600" y="3063240"/>
            <a:ext cx="9418320" cy="457200"/>
          </a:xfrm>
          <a:prstGeom prst="rect">
            <a:avLst/>
          </a:prstGeom>
          <a:noFill/>
          <a:ln/>
        </p:spPr>
        <p:txBody>
          <a:bodyPr wrap="square" lIns="0" tIns="0" rIns="0" bIns="0" rtlCol="0" anchor="ctr"/>
          <a:lstStyle/>
          <a:p>
            <a:pPr marL="0" indent="0" algn="ctr">
              <a:buNone/>
            </a:pPr>
            <a:r>
              <a:rPr lang="en-US" sz="1400" i="1" dirty="0">
                <a:solidFill>
                  <a:srgbClr val="CFE8F3"/>
                </a:solidFill>
                <a:latin typeface="Calibri" pitchFamily="34" charset="0"/>
                <a:ea typeface="Calibri" pitchFamily="34" charset="-122"/>
                <a:cs typeface="Calibri" pitchFamily="34" charset="-120"/>
              </a:rPr>
              <a:t>Учебные материалы  •  Курсы  •  Задания  •  Файлы  •  Оценки  •  Общение</a:t>
            </a:r>
            <a:endParaRPr lang="en-US" sz="1400" dirty="0"/>
          </a:p>
        </p:txBody>
      </p:sp>
      <p:sp>
        <p:nvSpPr>
          <p:cNvPr id="10" name="Shape 8"/>
          <p:cNvSpPr/>
          <p:nvPr/>
        </p:nvSpPr>
        <p:spPr>
          <a:xfrm>
            <a:off x="1463040" y="4798646"/>
            <a:ext cx="3291840" cy="779194"/>
          </a:xfrm>
          <a:prstGeom prst="roundRect">
            <a:avLst>
              <a:gd name="adj" fmla="val 7143"/>
            </a:avLst>
          </a:prstGeom>
          <a:solidFill>
            <a:srgbClr val="065A82"/>
          </a:solidFill>
          <a:ln/>
        </p:spPr>
      </p:sp>
      <p:sp>
        <p:nvSpPr>
          <p:cNvPr id="12" name="Text 10"/>
          <p:cNvSpPr txBox="1"/>
          <p:nvPr/>
        </p:nvSpPr>
        <p:spPr>
          <a:xfrm>
            <a:off x="1463040" y="4895948"/>
            <a:ext cx="32918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Студент</a:t>
            </a:r>
            <a:endParaRPr lang="en-US" sz="1600" dirty="0"/>
          </a:p>
        </p:txBody>
      </p:sp>
      <p:sp>
        <p:nvSpPr>
          <p:cNvPr id="13" name="Shape 11"/>
          <p:cNvSpPr/>
          <p:nvPr/>
        </p:nvSpPr>
        <p:spPr>
          <a:xfrm>
            <a:off x="7434072" y="4798646"/>
            <a:ext cx="3291840" cy="779194"/>
          </a:xfrm>
          <a:prstGeom prst="roundRect">
            <a:avLst>
              <a:gd name="adj" fmla="val 7143"/>
            </a:avLst>
          </a:prstGeom>
          <a:solidFill>
            <a:srgbClr val="065A82"/>
          </a:solidFill>
          <a:ln/>
        </p:spPr>
      </p:sp>
      <p:sp>
        <p:nvSpPr>
          <p:cNvPr id="15" name="Text 13"/>
          <p:cNvSpPr txBox="1"/>
          <p:nvPr/>
        </p:nvSpPr>
        <p:spPr>
          <a:xfrm>
            <a:off x="7434072" y="4895948"/>
            <a:ext cx="32918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Преподаватель</a:t>
            </a:r>
            <a:endParaRPr lang="en-US" sz="1600" dirty="0"/>
          </a:p>
        </p:txBody>
      </p:sp>
      <p:sp>
        <p:nvSpPr>
          <p:cNvPr id="16" name="Text 14"/>
          <p:cNvSpPr txBox="1"/>
          <p:nvPr/>
        </p:nvSpPr>
        <p:spPr>
          <a:xfrm>
            <a:off x="4754880" y="4663440"/>
            <a:ext cx="2651760" cy="548640"/>
          </a:xfrm>
          <a:prstGeom prst="rect">
            <a:avLst/>
          </a:prstGeom>
          <a:noFill/>
          <a:ln/>
        </p:spPr>
        <p:txBody>
          <a:bodyPr wrap="square" lIns="0" tIns="0" rIns="0" bIns="0" rtlCol="0" anchor="ctr"/>
          <a:lstStyle/>
          <a:p>
            <a:pPr marL="0" indent="0" algn="ctr">
              <a:buNone/>
            </a:pPr>
            <a:r>
              <a:rPr lang="en-US" sz="2400" dirty="0">
                <a:solidFill>
                  <a:srgbClr val="CFE8F3"/>
                </a:solidFill>
              </a:rPr>
              <a:t>←→</a:t>
            </a:r>
            <a:endParaRPr lang="en-US" sz="2400" dirty="0"/>
          </a:p>
        </p:txBody>
      </p:sp>
      <p:sp>
        <p:nvSpPr>
          <p:cNvPr id="17" name="Text 15"/>
          <p:cNvSpPr txBox="1"/>
          <p:nvPr/>
        </p:nvSpPr>
        <p:spPr>
          <a:xfrm>
            <a:off x="11457432" y="6400800"/>
            <a:ext cx="457200" cy="274320"/>
          </a:xfrm>
          <a:prstGeom prst="rect">
            <a:avLst/>
          </a:prstGeom>
          <a:noFill/>
          <a:ln/>
        </p:spPr>
        <p:txBody>
          <a:bodyPr wrap="square" lIns="0" tIns="0" rIns="0" bIns="0" rtlCol="0" anchor="ctr"/>
          <a:lstStyle/>
          <a:p>
            <a:pPr marL="0" indent="0" algn="r">
              <a:buNone/>
            </a:pPr>
            <a:r>
              <a:rPr lang="en-US" sz="1000" dirty="0">
                <a:solidFill>
                  <a:srgbClr val="CFE8F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marL="0" indent="0">
              <a:buNone/>
            </a:pPr>
            <a:r>
              <a:rPr lang="en-US" sz="2600" b="1" dirty="0">
                <a:solidFill>
                  <a:srgbClr val="142433"/>
                </a:solidFill>
                <a:latin typeface="Cambria" pitchFamily="34" charset="0"/>
                <a:ea typeface="Cambria" pitchFamily="34" charset="-122"/>
                <a:cs typeface="Cambria" pitchFamily="34" charset="-120"/>
              </a:rPr>
              <a:t>Практический пример: лабораторная работа в облаке</a:t>
            </a:r>
            <a:endParaRPr lang="en-US" sz="2600" dirty="0"/>
          </a:p>
        </p:txBody>
      </p:sp>
      <p:sp>
        <p:nvSpPr>
          <p:cNvPr id="3" name="Shape 1"/>
          <p:cNvSpPr/>
          <p:nvPr/>
        </p:nvSpPr>
        <p:spPr>
          <a:xfrm>
            <a:off x="640080" y="1920240"/>
            <a:ext cx="1691640" cy="2103120"/>
          </a:xfrm>
          <a:prstGeom prst="roundRect">
            <a:avLst>
              <a:gd name="adj" fmla="val 5405"/>
            </a:avLst>
          </a:prstGeom>
          <a:solidFill>
            <a:srgbClr val="1C7293"/>
          </a:solidFill>
          <a:ln/>
        </p:spPr>
      </p:sp>
      <p:sp>
        <p:nvSpPr>
          <p:cNvPr id="4" name="Shape 2"/>
          <p:cNvSpPr/>
          <p:nvPr/>
        </p:nvSpPr>
        <p:spPr>
          <a:xfrm>
            <a:off x="1229868" y="2084832"/>
            <a:ext cx="512064" cy="512064"/>
          </a:xfrm>
          <a:prstGeom prst="ellipse">
            <a:avLst/>
          </a:prstGeom>
          <a:solidFill>
            <a:srgbClr val="FFFFFF"/>
          </a:solidFill>
          <a:ln/>
        </p:spPr>
      </p:sp>
      <p:sp>
        <p:nvSpPr>
          <p:cNvPr id="5" name="Text 3"/>
          <p:cNvSpPr txBox="1"/>
          <p:nvPr/>
        </p:nvSpPr>
        <p:spPr>
          <a:xfrm>
            <a:off x="1229868" y="2084832"/>
            <a:ext cx="512064" cy="512064"/>
          </a:xfrm>
          <a:prstGeom prst="rect">
            <a:avLst/>
          </a:prstGeom>
          <a:noFill/>
          <a:ln/>
        </p:spPr>
        <p:txBody>
          <a:bodyPr wrap="square" lIns="0" tIns="0" rIns="0" bIns="0" rtlCol="0" anchor="ctr"/>
          <a:lstStyle/>
          <a:p>
            <a:pPr marL="0" indent="0" algn="ctr">
              <a:buNone/>
            </a:pPr>
            <a:r>
              <a:rPr lang="en-US" sz="2000" b="1" dirty="0">
                <a:solidFill>
                  <a:srgbClr val="1C7293"/>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640080" y="2697480"/>
            <a:ext cx="1691640" cy="502920"/>
          </a:xfrm>
          <a:prstGeom prst="rect">
            <a:avLst/>
          </a:prstGeom>
          <a:noFill/>
          <a:ln/>
        </p:spPr>
        <p:txBody>
          <a:bodyPr wrap="square" lIns="0" tIns="0" rIns="0" bIns="0" rtlCol="0" anchor="ctr"/>
          <a:lstStyle/>
          <a:p>
            <a:pPr marL="0" indent="0" algn="ctr">
              <a:buNone/>
            </a:pPr>
            <a:endParaRPr lang="en-US" sz="2600" dirty="0"/>
          </a:p>
        </p:txBody>
      </p:sp>
      <p:sp>
        <p:nvSpPr>
          <p:cNvPr id="7" name="Text 5"/>
          <p:cNvSpPr txBox="1"/>
          <p:nvPr/>
        </p:nvSpPr>
        <p:spPr>
          <a:xfrm>
            <a:off x="713232" y="2793414"/>
            <a:ext cx="1545336" cy="777240"/>
          </a:xfrm>
          <a:prstGeom prst="rect">
            <a:avLst/>
          </a:prstGeom>
          <a:noFill/>
          <a:ln/>
        </p:spPr>
        <p:txBody>
          <a:bodyPr wrap="square" lIns="0" tIns="0" rIns="0" bIns="0" rtlCol="0" anchor="t"/>
          <a:lstStyle/>
          <a:p>
            <a:pPr marL="0" indent="0" algn="ctr">
              <a:buNone/>
            </a:pPr>
            <a:r>
              <a:rPr lang="en-US" sz="1250" dirty="0">
                <a:solidFill>
                  <a:srgbClr val="FFFFFF"/>
                </a:solidFill>
                <a:latin typeface="Calibri" pitchFamily="34" charset="0"/>
                <a:ea typeface="Calibri" pitchFamily="34" charset="-122"/>
                <a:cs typeface="Calibri" pitchFamily="34" charset="-120"/>
              </a:rPr>
              <a:t>Преподаватель размещает задание</a:t>
            </a:r>
            <a:endParaRPr lang="en-US" sz="1250" dirty="0"/>
          </a:p>
        </p:txBody>
      </p:sp>
      <p:sp>
        <p:nvSpPr>
          <p:cNvPr id="8" name="Text 6"/>
          <p:cNvSpPr txBox="1"/>
          <p:nvPr/>
        </p:nvSpPr>
        <p:spPr>
          <a:xfrm>
            <a:off x="2331720" y="2697480"/>
            <a:ext cx="137160" cy="457200"/>
          </a:xfrm>
          <a:prstGeom prst="rect">
            <a:avLst/>
          </a:prstGeom>
          <a:noFill/>
          <a:ln/>
        </p:spPr>
        <p:txBody>
          <a:bodyPr wrap="square" lIns="0" tIns="0" rIns="0" bIns="0" rtlCol="0" anchor="ctr"/>
          <a:lstStyle/>
          <a:p>
            <a:pPr marL="0" indent="0" algn="ctr">
              <a:buNone/>
            </a:pPr>
            <a:r>
              <a:rPr lang="en-US" sz="1600" dirty="0">
                <a:solidFill>
                  <a:srgbClr val="5B7482"/>
                </a:solidFill>
              </a:rPr>
              <a:t>→</a:t>
            </a:r>
            <a:endParaRPr lang="en-US" sz="1600" dirty="0"/>
          </a:p>
        </p:txBody>
      </p:sp>
      <p:sp>
        <p:nvSpPr>
          <p:cNvPr id="9" name="Shape 7"/>
          <p:cNvSpPr/>
          <p:nvPr/>
        </p:nvSpPr>
        <p:spPr>
          <a:xfrm>
            <a:off x="2468880" y="1920240"/>
            <a:ext cx="1691640" cy="2103120"/>
          </a:xfrm>
          <a:prstGeom prst="roundRect">
            <a:avLst>
              <a:gd name="adj" fmla="val 5405"/>
            </a:avLst>
          </a:prstGeom>
          <a:solidFill>
            <a:srgbClr val="065A82"/>
          </a:solidFill>
          <a:ln/>
        </p:spPr>
      </p:sp>
      <p:sp>
        <p:nvSpPr>
          <p:cNvPr id="10" name="Shape 8"/>
          <p:cNvSpPr/>
          <p:nvPr/>
        </p:nvSpPr>
        <p:spPr>
          <a:xfrm>
            <a:off x="3058668" y="2084832"/>
            <a:ext cx="512064" cy="512064"/>
          </a:xfrm>
          <a:prstGeom prst="ellipse">
            <a:avLst/>
          </a:prstGeom>
          <a:solidFill>
            <a:srgbClr val="FFFFFF"/>
          </a:solidFill>
          <a:ln/>
        </p:spPr>
      </p:sp>
      <p:sp>
        <p:nvSpPr>
          <p:cNvPr id="11" name="Text 9"/>
          <p:cNvSpPr txBox="1"/>
          <p:nvPr/>
        </p:nvSpPr>
        <p:spPr>
          <a:xfrm>
            <a:off x="3058668" y="2084832"/>
            <a:ext cx="512064" cy="512064"/>
          </a:xfrm>
          <a:prstGeom prst="rect">
            <a:avLst/>
          </a:prstGeom>
          <a:noFill/>
          <a:ln/>
        </p:spPr>
        <p:txBody>
          <a:bodyPr wrap="square" lIns="0" tIns="0" rIns="0" bIns="0" rtlCol="0" anchor="ctr"/>
          <a:lstStyle/>
          <a:p>
            <a:pPr marL="0" indent="0" algn="ctr">
              <a:buNone/>
            </a:pPr>
            <a:r>
              <a:rPr lang="en-US" sz="2000" b="1" dirty="0">
                <a:solidFill>
                  <a:srgbClr val="065A82"/>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2468880" y="2697480"/>
            <a:ext cx="1691640" cy="502920"/>
          </a:xfrm>
          <a:prstGeom prst="rect">
            <a:avLst/>
          </a:prstGeom>
          <a:noFill/>
          <a:ln/>
        </p:spPr>
        <p:txBody>
          <a:bodyPr wrap="square" lIns="0" tIns="0" rIns="0" bIns="0" rtlCol="0" anchor="ctr"/>
          <a:lstStyle/>
          <a:p>
            <a:pPr marL="0" indent="0" algn="ctr">
              <a:buNone/>
            </a:pPr>
            <a:endParaRPr lang="en-US" sz="2600" dirty="0"/>
          </a:p>
        </p:txBody>
      </p:sp>
      <p:sp>
        <p:nvSpPr>
          <p:cNvPr id="13" name="Text 11"/>
          <p:cNvSpPr txBox="1"/>
          <p:nvPr/>
        </p:nvSpPr>
        <p:spPr>
          <a:xfrm>
            <a:off x="2542032" y="2811780"/>
            <a:ext cx="1545336" cy="777240"/>
          </a:xfrm>
          <a:prstGeom prst="rect">
            <a:avLst/>
          </a:prstGeom>
          <a:noFill/>
          <a:ln/>
        </p:spPr>
        <p:txBody>
          <a:bodyPr wrap="square" lIns="0" tIns="0" rIns="0" bIns="0" rtlCol="0" anchor="t"/>
          <a:lstStyle/>
          <a:p>
            <a:pPr marL="0" indent="0" algn="ctr">
              <a:buNone/>
            </a:pPr>
            <a:r>
              <a:rPr lang="en-US" sz="1250" dirty="0">
                <a:solidFill>
                  <a:srgbClr val="FFFFFF"/>
                </a:solidFill>
                <a:latin typeface="Calibri" pitchFamily="34" charset="0"/>
                <a:ea typeface="Calibri" pitchFamily="34" charset="-122"/>
                <a:cs typeface="Calibri" pitchFamily="34" charset="-120"/>
              </a:rPr>
              <a:t>Студент получает задание</a:t>
            </a:r>
            <a:endParaRPr lang="en-US" sz="1250" dirty="0"/>
          </a:p>
        </p:txBody>
      </p:sp>
      <p:sp>
        <p:nvSpPr>
          <p:cNvPr id="14" name="Text 12"/>
          <p:cNvSpPr txBox="1"/>
          <p:nvPr/>
        </p:nvSpPr>
        <p:spPr>
          <a:xfrm>
            <a:off x="4160520" y="2697480"/>
            <a:ext cx="137160" cy="457200"/>
          </a:xfrm>
          <a:prstGeom prst="rect">
            <a:avLst/>
          </a:prstGeom>
          <a:noFill/>
          <a:ln/>
        </p:spPr>
        <p:txBody>
          <a:bodyPr wrap="square" lIns="0" tIns="0" rIns="0" bIns="0" rtlCol="0" anchor="ctr"/>
          <a:lstStyle/>
          <a:p>
            <a:pPr marL="0" indent="0" algn="ctr">
              <a:buNone/>
            </a:pPr>
            <a:r>
              <a:rPr lang="en-US" sz="1600" dirty="0">
                <a:solidFill>
                  <a:srgbClr val="5B7482"/>
                </a:solidFill>
              </a:rPr>
              <a:t>→</a:t>
            </a:r>
            <a:endParaRPr lang="en-US" sz="1600" dirty="0"/>
          </a:p>
        </p:txBody>
      </p:sp>
      <p:sp>
        <p:nvSpPr>
          <p:cNvPr id="15" name="Shape 13"/>
          <p:cNvSpPr/>
          <p:nvPr/>
        </p:nvSpPr>
        <p:spPr>
          <a:xfrm>
            <a:off x="4297680" y="1920240"/>
            <a:ext cx="1691640" cy="2103120"/>
          </a:xfrm>
          <a:prstGeom prst="roundRect">
            <a:avLst>
              <a:gd name="adj" fmla="val 5405"/>
            </a:avLst>
          </a:prstGeom>
          <a:solidFill>
            <a:srgbClr val="1C7293"/>
          </a:solidFill>
          <a:ln/>
        </p:spPr>
      </p:sp>
      <p:sp>
        <p:nvSpPr>
          <p:cNvPr id="16" name="Shape 14"/>
          <p:cNvSpPr/>
          <p:nvPr/>
        </p:nvSpPr>
        <p:spPr>
          <a:xfrm>
            <a:off x="4887468" y="2084832"/>
            <a:ext cx="512064" cy="512064"/>
          </a:xfrm>
          <a:prstGeom prst="ellipse">
            <a:avLst/>
          </a:prstGeom>
          <a:solidFill>
            <a:srgbClr val="FFFFFF"/>
          </a:solidFill>
          <a:ln/>
        </p:spPr>
      </p:sp>
      <p:sp>
        <p:nvSpPr>
          <p:cNvPr id="17" name="Text 15"/>
          <p:cNvSpPr txBox="1"/>
          <p:nvPr/>
        </p:nvSpPr>
        <p:spPr>
          <a:xfrm>
            <a:off x="4887468" y="2084832"/>
            <a:ext cx="512064" cy="512064"/>
          </a:xfrm>
          <a:prstGeom prst="rect">
            <a:avLst/>
          </a:prstGeom>
          <a:noFill/>
          <a:ln/>
        </p:spPr>
        <p:txBody>
          <a:bodyPr wrap="square" lIns="0" tIns="0" rIns="0" bIns="0" rtlCol="0" anchor="ctr"/>
          <a:lstStyle/>
          <a:p>
            <a:pPr marL="0" indent="0" algn="ctr">
              <a:buNone/>
            </a:pPr>
            <a:r>
              <a:rPr lang="en-US" sz="2000" b="1" dirty="0">
                <a:solidFill>
                  <a:srgbClr val="1C7293"/>
                </a:solidFill>
                <a:latin typeface="Calibri" pitchFamily="34" charset="0"/>
                <a:ea typeface="Calibri" pitchFamily="34" charset="-122"/>
                <a:cs typeface="Calibri" pitchFamily="34" charset="-120"/>
              </a:rPr>
              <a:t>3</a:t>
            </a:r>
            <a:endParaRPr lang="en-US" sz="2000" dirty="0"/>
          </a:p>
        </p:txBody>
      </p:sp>
      <p:sp>
        <p:nvSpPr>
          <p:cNvPr id="18" name="Text 16"/>
          <p:cNvSpPr txBox="1"/>
          <p:nvPr/>
        </p:nvSpPr>
        <p:spPr>
          <a:xfrm>
            <a:off x="4297680" y="2697480"/>
            <a:ext cx="1691640" cy="502920"/>
          </a:xfrm>
          <a:prstGeom prst="rect">
            <a:avLst/>
          </a:prstGeom>
          <a:noFill/>
          <a:ln/>
        </p:spPr>
        <p:txBody>
          <a:bodyPr wrap="square" lIns="0" tIns="0" rIns="0" bIns="0" rtlCol="0" anchor="ctr"/>
          <a:lstStyle/>
          <a:p>
            <a:pPr marL="0" indent="0" algn="ctr">
              <a:buNone/>
            </a:pPr>
            <a:endParaRPr lang="en-US" sz="2600" dirty="0"/>
          </a:p>
        </p:txBody>
      </p:sp>
      <p:sp>
        <p:nvSpPr>
          <p:cNvPr id="19" name="Text 17"/>
          <p:cNvSpPr txBox="1"/>
          <p:nvPr/>
        </p:nvSpPr>
        <p:spPr>
          <a:xfrm>
            <a:off x="4370832" y="2794586"/>
            <a:ext cx="1545336" cy="777240"/>
          </a:xfrm>
          <a:prstGeom prst="rect">
            <a:avLst/>
          </a:prstGeom>
          <a:noFill/>
          <a:ln/>
        </p:spPr>
        <p:txBody>
          <a:bodyPr wrap="square" lIns="0" tIns="0" rIns="0" bIns="0" rtlCol="0" anchor="t"/>
          <a:lstStyle/>
          <a:p>
            <a:pPr marL="0" indent="0" algn="ctr">
              <a:buNone/>
            </a:pPr>
            <a:r>
              <a:rPr lang="en-US" sz="1250" dirty="0">
                <a:solidFill>
                  <a:srgbClr val="FFFFFF"/>
                </a:solidFill>
                <a:latin typeface="Calibri" pitchFamily="34" charset="0"/>
                <a:ea typeface="Calibri" pitchFamily="34" charset="-122"/>
                <a:cs typeface="Calibri" pitchFamily="34" charset="-120"/>
              </a:rPr>
              <a:t>Выполняет работу</a:t>
            </a:r>
            <a:endParaRPr lang="en-US" sz="1250" dirty="0"/>
          </a:p>
        </p:txBody>
      </p:sp>
      <p:sp>
        <p:nvSpPr>
          <p:cNvPr id="20" name="Text 18"/>
          <p:cNvSpPr txBox="1"/>
          <p:nvPr/>
        </p:nvSpPr>
        <p:spPr>
          <a:xfrm>
            <a:off x="5989320" y="2697480"/>
            <a:ext cx="137160" cy="457200"/>
          </a:xfrm>
          <a:prstGeom prst="rect">
            <a:avLst/>
          </a:prstGeom>
          <a:noFill/>
          <a:ln/>
        </p:spPr>
        <p:txBody>
          <a:bodyPr wrap="square" lIns="0" tIns="0" rIns="0" bIns="0" rtlCol="0" anchor="ctr"/>
          <a:lstStyle/>
          <a:p>
            <a:pPr marL="0" indent="0" algn="ctr">
              <a:buNone/>
            </a:pPr>
            <a:r>
              <a:rPr lang="en-US" sz="1600" dirty="0">
                <a:solidFill>
                  <a:srgbClr val="5B7482"/>
                </a:solidFill>
              </a:rPr>
              <a:t>→</a:t>
            </a:r>
            <a:endParaRPr lang="en-US" sz="1600" dirty="0"/>
          </a:p>
        </p:txBody>
      </p:sp>
      <p:sp>
        <p:nvSpPr>
          <p:cNvPr id="21" name="Shape 19"/>
          <p:cNvSpPr/>
          <p:nvPr/>
        </p:nvSpPr>
        <p:spPr>
          <a:xfrm>
            <a:off x="6126480" y="1920240"/>
            <a:ext cx="1691640" cy="2103120"/>
          </a:xfrm>
          <a:prstGeom prst="roundRect">
            <a:avLst>
              <a:gd name="adj" fmla="val 5405"/>
            </a:avLst>
          </a:prstGeom>
          <a:solidFill>
            <a:srgbClr val="065A82"/>
          </a:solidFill>
          <a:ln/>
        </p:spPr>
      </p:sp>
      <p:sp>
        <p:nvSpPr>
          <p:cNvPr id="22" name="Shape 20"/>
          <p:cNvSpPr/>
          <p:nvPr/>
        </p:nvSpPr>
        <p:spPr>
          <a:xfrm>
            <a:off x="6716268" y="2084832"/>
            <a:ext cx="512064" cy="512064"/>
          </a:xfrm>
          <a:prstGeom prst="ellipse">
            <a:avLst/>
          </a:prstGeom>
          <a:solidFill>
            <a:srgbClr val="FFFFFF"/>
          </a:solidFill>
          <a:ln/>
        </p:spPr>
      </p:sp>
      <p:sp>
        <p:nvSpPr>
          <p:cNvPr id="23" name="Text 21"/>
          <p:cNvSpPr txBox="1"/>
          <p:nvPr/>
        </p:nvSpPr>
        <p:spPr>
          <a:xfrm>
            <a:off x="6716268" y="2084832"/>
            <a:ext cx="512064" cy="512064"/>
          </a:xfrm>
          <a:prstGeom prst="rect">
            <a:avLst/>
          </a:prstGeom>
          <a:noFill/>
          <a:ln/>
        </p:spPr>
        <p:txBody>
          <a:bodyPr wrap="square" lIns="0" tIns="0" rIns="0" bIns="0" rtlCol="0" anchor="ctr"/>
          <a:lstStyle/>
          <a:p>
            <a:pPr marL="0" indent="0" algn="ctr">
              <a:buNone/>
            </a:pPr>
            <a:r>
              <a:rPr lang="en-US" sz="2000" b="1" dirty="0">
                <a:solidFill>
                  <a:srgbClr val="065A82"/>
                </a:solidFill>
                <a:latin typeface="Calibri" pitchFamily="34" charset="0"/>
                <a:ea typeface="Calibri" pitchFamily="34" charset="-122"/>
                <a:cs typeface="Calibri" pitchFamily="34" charset="-120"/>
              </a:rPr>
              <a:t>4</a:t>
            </a:r>
            <a:endParaRPr lang="en-US" sz="2000" dirty="0"/>
          </a:p>
        </p:txBody>
      </p:sp>
      <p:sp>
        <p:nvSpPr>
          <p:cNvPr id="24" name="Text 22"/>
          <p:cNvSpPr txBox="1"/>
          <p:nvPr/>
        </p:nvSpPr>
        <p:spPr>
          <a:xfrm>
            <a:off x="6126480" y="2697480"/>
            <a:ext cx="1691640" cy="502920"/>
          </a:xfrm>
          <a:prstGeom prst="rect">
            <a:avLst/>
          </a:prstGeom>
          <a:noFill/>
          <a:ln/>
        </p:spPr>
        <p:txBody>
          <a:bodyPr wrap="square" lIns="0" tIns="0" rIns="0" bIns="0" rtlCol="0" anchor="ctr"/>
          <a:lstStyle/>
          <a:p>
            <a:pPr marL="0" indent="0" algn="ctr">
              <a:buNone/>
            </a:pPr>
            <a:endParaRPr lang="en-US" sz="2600" dirty="0"/>
          </a:p>
        </p:txBody>
      </p:sp>
      <p:sp>
        <p:nvSpPr>
          <p:cNvPr id="25" name="Text 23"/>
          <p:cNvSpPr txBox="1"/>
          <p:nvPr/>
        </p:nvSpPr>
        <p:spPr>
          <a:xfrm>
            <a:off x="6236208" y="2775946"/>
            <a:ext cx="1545336" cy="777240"/>
          </a:xfrm>
          <a:prstGeom prst="rect">
            <a:avLst/>
          </a:prstGeom>
          <a:noFill/>
          <a:ln/>
        </p:spPr>
        <p:txBody>
          <a:bodyPr wrap="square" lIns="0" tIns="0" rIns="0" bIns="0" rtlCol="0" anchor="t"/>
          <a:lstStyle/>
          <a:p>
            <a:pPr marL="0" indent="0" algn="ctr">
              <a:buNone/>
            </a:pPr>
            <a:r>
              <a:rPr lang="en-US" sz="1250" dirty="0">
                <a:solidFill>
                  <a:srgbClr val="FFFFFF"/>
                </a:solidFill>
                <a:latin typeface="Calibri" pitchFamily="34" charset="0"/>
                <a:ea typeface="Calibri" pitchFamily="34" charset="-122"/>
                <a:cs typeface="Calibri" pitchFamily="34" charset="-120"/>
              </a:rPr>
              <a:t>Загружает результат</a:t>
            </a:r>
            <a:endParaRPr lang="en-US" sz="1250" dirty="0"/>
          </a:p>
        </p:txBody>
      </p:sp>
      <p:sp>
        <p:nvSpPr>
          <p:cNvPr id="26" name="Text 24"/>
          <p:cNvSpPr txBox="1"/>
          <p:nvPr/>
        </p:nvSpPr>
        <p:spPr>
          <a:xfrm>
            <a:off x="7818120" y="2697480"/>
            <a:ext cx="137160" cy="457200"/>
          </a:xfrm>
          <a:prstGeom prst="rect">
            <a:avLst/>
          </a:prstGeom>
          <a:noFill/>
          <a:ln/>
        </p:spPr>
        <p:txBody>
          <a:bodyPr wrap="square" lIns="0" tIns="0" rIns="0" bIns="0" rtlCol="0" anchor="ctr"/>
          <a:lstStyle/>
          <a:p>
            <a:pPr marL="0" indent="0" algn="ctr">
              <a:buNone/>
            </a:pPr>
            <a:r>
              <a:rPr lang="en-US" sz="1600" dirty="0">
                <a:solidFill>
                  <a:srgbClr val="5B7482"/>
                </a:solidFill>
              </a:rPr>
              <a:t>→</a:t>
            </a:r>
            <a:endParaRPr lang="en-US" sz="1600" dirty="0"/>
          </a:p>
        </p:txBody>
      </p:sp>
      <p:sp>
        <p:nvSpPr>
          <p:cNvPr id="27" name="Shape 25"/>
          <p:cNvSpPr/>
          <p:nvPr/>
        </p:nvSpPr>
        <p:spPr>
          <a:xfrm>
            <a:off x="7955280" y="1920240"/>
            <a:ext cx="1691640" cy="2103120"/>
          </a:xfrm>
          <a:prstGeom prst="roundRect">
            <a:avLst>
              <a:gd name="adj" fmla="val 5405"/>
            </a:avLst>
          </a:prstGeom>
          <a:solidFill>
            <a:srgbClr val="1C7293"/>
          </a:solidFill>
          <a:ln/>
        </p:spPr>
      </p:sp>
      <p:sp>
        <p:nvSpPr>
          <p:cNvPr id="28" name="Shape 26"/>
          <p:cNvSpPr/>
          <p:nvPr/>
        </p:nvSpPr>
        <p:spPr>
          <a:xfrm>
            <a:off x="8545068" y="2084832"/>
            <a:ext cx="512064" cy="512064"/>
          </a:xfrm>
          <a:prstGeom prst="ellipse">
            <a:avLst/>
          </a:prstGeom>
          <a:solidFill>
            <a:srgbClr val="FFFFFF"/>
          </a:solidFill>
          <a:ln/>
        </p:spPr>
      </p:sp>
      <p:sp>
        <p:nvSpPr>
          <p:cNvPr id="29" name="Text 27"/>
          <p:cNvSpPr txBox="1"/>
          <p:nvPr/>
        </p:nvSpPr>
        <p:spPr>
          <a:xfrm>
            <a:off x="8545068" y="2084832"/>
            <a:ext cx="512064" cy="512064"/>
          </a:xfrm>
          <a:prstGeom prst="rect">
            <a:avLst/>
          </a:prstGeom>
          <a:noFill/>
          <a:ln/>
        </p:spPr>
        <p:txBody>
          <a:bodyPr wrap="square" lIns="0" tIns="0" rIns="0" bIns="0" rtlCol="0" anchor="ctr"/>
          <a:lstStyle/>
          <a:p>
            <a:pPr marL="0" indent="0" algn="ctr">
              <a:buNone/>
            </a:pPr>
            <a:r>
              <a:rPr lang="en-US" sz="2000" b="1" dirty="0">
                <a:solidFill>
                  <a:srgbClr val="1C7293"/>
                </a:solidFill>
                <a:latin typeface="Calibri" pitchFamily="34" charset="0"/>
                <a:ea typeface="Calibri" pitchFamily="34" charset="-122"/>
                <a:cs typeface="Calibri" pitchFamily="34" charset="-120"/>
              </a:rPr>
              <a:t>5</a:t>
            </a:r>
            <a:endParaRPr lang="en-US" sz="2000" dirty="0"/>
          </a:p>
        </p:txBody>
      </p:sp>
      <p:sp>
        <p:nvSpPr>
          <p:cNvPr id="30" name="Text 28"/>
          <p:cNvSpPr txBox="1"/>
          <p:nvPr/>
        </p:nvSpPr>
        <p:spPr>
          <a:xfrm>
            <a:off x="7955280" y="2697480"/>
            <a:ext cx="1691640" cy="502920"/>
          </a:xfrm>
          <a:prstGeom prst="rect">
            <a:avLst/>
          </a:prstGeom>
          <a:noFill/>
          <a:ln/>
        </p:spPr>
        <p:txBody>
          <a:bodyPr wrap="square" lIns="0" tIns="0" rIns="0" bIns="0" rtlCol="0" anchor="ctr"/>
          <a:lstStyle/>
          <a:p>
            <a:pPr marL="0" indent="0" algn="ctr">
              <a:buNone/>
            </a:pPr>
            <a:endParaRPr lang="en-US" sz="2600" dirty="0"/>
          </a:p>
        </p:txBody>
      </p:sp>
      <p:sp>
        <p:nvSpPr>
          <p:cNvPr id="31" name="Text 29"/>
          <p:cNvSpPr txBox="1"/>
          <p:nvPr/>
        </p:nvSpPr>
        <p:spPr>
          <a:xfrm>
            <a:off x="7955280" y="2800643"/>
            <a:ext cx="1545336" cy="777240"/>
          </a:xfrm>
          <a:prstGeom prst="rect">
            <a:avLst/>
          </a:prstGeom>
          <a:noFill/>
          <a:ln/>
        </p:spPr>
        <p:txBody>
          <a:bodyPr wrap="square" lIns="0" tIns="0" rIns="0" bIns="0" rtlCol="0" anchor="t"/>
          <a:lstStyle/>
          <a:p>
            <a:pPr marL="0" indent="0" algn="ctr">
              <a:buNone/>
            </a:pPr>
            <a:r>
              <a:rPr lang="en-US" sz="1250" dirty="0">
                <a:solidFill>
                  <a:srgbClr val="FFFFFF"/>
                </a:solidFill>
                <a:latin typeface="Calibri" pitchFamily="34" charset="0"/>
                <a:ea typeface="Calibri" pitchFamily="34" charset="-122"/>
                <a:cs typeface="Calibri" pitchFamily="34" charset="-120"/>
              </a:rPr>
              <a:t>Преподаватель проверяет</a:t>
            </a:r>
            <a:endParaRPr lang="en-US" sz="1250" dirty="0"/>
          </a:p>
        </p:txBody>
      </p:sp>
      <p:sp>
        <p:nvSpPr>
          <p:cNvPr id="32" name="Text 30"/>
          <p:cNvSpPr txBox="1"/>
          <p:nvPr/>
        </p:nvSpPr>
        <p:spPr>
          <a:xfrm>
            <a:off x="9646920" y="2697480"/>
            <a:ext cx="137160" cy="457200"/>
          </a:xfrm>
          <a:prstGeom prst="rect">
            <a:avLst/>
          </a:prstGeom>
          <a:noFill/>
          <a:ln/>
        </p:spPr>
        <p:txBody>
          <a:bodyPr wrap="square" lIns="0" tIns="0" rIns="0" bIns="0" rtlCol="0" anchor="ctr"/>
          <a:lstStyle/>
          <a:p>
            <a:pPr marL="0" indent="0" algn="ctr">
              <a:buNone/>
            </a:pPr>
            <a:r>
              <a:rPr lang="en-US" sz="1600" dirty="0">
                <a:solidFill>
                  <a:srgbClr val="5B7482"/>
                </a:solidFill>
              </a:rPr>
              <a:t>→</a:t>
            </a:r>
            <a:endParaRPr lang="en-US" sz="1600" dirty="0"/>
          </a:p>
        </p:txBody>
      </p:sp>
      <p:sp>
        <p:nvSpPr>
          <p:cNvPr id="33" name="Shape 31"/>
          <p:cNvSpPr/>
          <p:nvPr/>
        </p:nvSpPr>
        <p:spPr>
          <a:xfrm>
            <a:off x="9784080" y="1920240"/>
            <a:ext cx="1691640" cy="2103120"/>
          </a:xfrm>
          <a:prstGeom prst="roundRect">
            <a:avLst>
              <a:gd name="adj" fmla="val 5405"/>
            </a:avLst>
          </a:prstGeom>
          <a:solidFill>
            <a:srgbClr val="065A82"/>
          </a:solidFill>
          <a:ln/>
        </p:spPr>
      </p:sp>
      <p:sp>
        <p:nvSpPr>
          <p:cNvPr id="34" name="Shape 32"/>
          <p:cNvSpPr/>
          <p:nvPr/>
        </p:nvSpPr>
        <p:spPr>
          <a:xfrm>
            <a:off x="10373868" y="2084832"/>
            <a:ext cx="512064" cy="512064"/>
          </a:xfrm>
          <a:prstGeom prst="ellipse">
            <a:avLst/>
          </a:prstGeom>
          <a:solidFill>
            <a:srgbClr val="FFFFFF"/>
          </a:solidFill>
          <a:ln/>
        </p:spPr>
      </p:sp>
      <p:sp>
        <p:nvSpPr>
          <p:cNvPr id="35" name="Text 33"/>
          <p:cNvSpPr txBox="1"/>
          <p:nvPr/>
        </p:nvSpPr>
        <p:spPr>
          <a:xfrm>
            <a:off x="10373868" y="2084832"/>
            <a:ext cx="512064" cy="512064"/>
          </a:xfrm>
          <a:prstGeom prst="rect">
            <a:avLst/>
          </a:prstGeom>
          <a:noFill/>
          <a:ln/>
        </p:spPr>
        <p:txBody>
          <a:bodyPr wrap="square" lIns="0" tIns="0" rIns="0" bIns="0" rtlCol="0" anchor="ctr"/>
          <a:lstStyle/>
          <a:p>
            <a:pPr marL="0" indent="0" algn="ctr">
              <a:buNone/>
            </a:pPr>
            <a:r>
              <a:rPr lang="en-US" sz="2000" b="1" dirty="0">
                <a:solidFill>
                  <a:srgbClr val="065A82"/>
                </a:solidFill>
                <a:latin typeface="Calibri" pitchFamily="34" charset="0"/>
                <a:ea typeface="Calibri" pitchFamily="34" charset="-122"/>
                <a:cs typeface="Calibri" pitchFamily="34" charset="-120"/>
              </a:rPr>
              <a:t>6</a:t>
            </a:r>
            <a:endParaRPr lang="en-US" sz="2000" dirty="0"/>
          </a:p>
        </p:txBody>
      </p:sp>
      <p:sp>
        <p:nvSpPr>
          <p:cNvPr id="37" name="Text 35"/>
          <p:cNvSpPr txBox="1"/>
          <p:nvPr/>
        </p:nvSpPr>
        <p:spPr>
          <a:xfrm>
            <a:off x="9857232" y="2800643"/>
            <a:ext cx="1545336" cy="777240"/>
          </a:xfrm>
          <a:prstGeom prst="rect">
            <a:avLst/>
          </a:prstGeom>
          <a:noFill/>
          <a:ln/>
        </p:spPr>
        <p:txBody>
          <a:bodyPr wrap="square" lIns="0" tIns="0" rIns="0" bIns="0" rtlCol="0" anchor="t"/>
          <a:lstStyle/>
          <a:p>
            <a:pPr marL="0" indent="0" algn="ctr">
              <a:buNone/>
            </a:pPr>
            <a:r>
              <a:rPr lang="en-US" sz="1250" dirty="0">
                <a:solidFill>
                  <a:srgbClr val="FFFFFF"/>
                </a:solidFill>
                <a:latin typeface="Calibri" pitchFamily="34" charset="0"/>
                <a:ea typeface="Calibri" pitchFamily="34" charset="-122"/>
                <a:cs typeface="Calibri" pitchFamily="34" charset="-120"/>
              </a:rPr>
              <a:t>Студент получает результат</a:t>
            </a:r>
            <a:endParaRPr lang="en-US" sz="1250" dirty="0"/>
          </a:p>
        </p:txBody>
      </p:sp>
      <p:sp>
        <p:nvSpPr>
          <p:cNvPr id="40" name="Text 38"/>
          <p:cNvSpPr txBox="1"/>
          <p:nvPr/>
        </p:nvSpPr>
        <p:spPr>
          <a:xfrm>
            <a:off x="11457432" y="6400800"/>
            <a:ext cx="457200" cy="274320"/>
          </a:xfrm>
          <a:prstGeom prst="rect">
            <a:avLst/>
          </a:prstGeom>
          <a:noFill/>
          <a:ln/>
        </p:spPr>
        <p:txBody>
          <a:bodyPr wrap="square" lIns="0" tIns="0" rIns="0" bIns="0" rtlCol="0" anchor="ctr"/>
          <a:lstStyle/>
          <a:p>
            <a:pPr marL="0" indent="0" algn="r">
              <a:buNone/>
            </a:pPr>
            <a:r>
              <a:rPr lang="en-US" sz="1000" dirty="0">
                <a:solidFill>
                  <a:srgbClr val="5B748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marL="0" indent="0">
              <a:buNone/>
            </a:pPr>
            <a:r>
              <a:rPr lang="ru-RU" sz="2800" b="1" dirty="0">
                <a:solidFill>
                  <a:srgbClr val="142433"/>
                </a:solidFill>
                <a:latin typeface="Cambria" pitchFamily="34" charset="0"/>
                <a:ea typeface="Cambria" pitchFamily="34" charset="-122"/>
                <a:cs typeface="Cambria" pitchFamily="34" charset="-120"/>
              </a:rPr>
              <a:t>Преимущества</a:t>
            </a:r>
            <a:r>
              <a:rPr lang="en-US" sz="2800" b="1" dirty="0">
                <a:solidFill>
                  <a:srgbClr val="142433"/>
                </a:solidFill>
                <a:latin typeface="Cambria" pitchFamily="34" charset="0"/>
                <a:ea typeface="Cambria" pitchFamily="34" charset="-122"/>
                <a:cs typeface="Cambria" pitchFamily="34" charset="-120"/>
              </a:rPr>
              <a:t> и </a:t>
            </a:r>
            <a:r>
              <a:rPr lang="ru-RU" sz="2800" b="1" dirty="0">
                <a:solidFill>
                  <a:srgbClr val="142433"/>
                </a:solidFill>
                <a:latin typeface="Cambria" pitchFamily="34" charset="0"/>
                <a:ea typeface="Cambria" pitchFamily="34" charset="-122"/>
                <a:cs typeface="Cambria" pitchFamily="34" charset="-120"/>
              </a:rPr>
              <a:t>недостатки</a:t>
            </a:r>
            <a:r>
              <a:rPr lang="en-US" sz="2800" b="1" dirty="0">
                <a:solidFill>
                  <a:srgbClr val="142433"/>
                </a:solidFill>
                <a:latin typeface="Cambria" pitchFamily="34" charset="0"/>
                <a:ea typeface="Cambria" pitchFamily="34" charset="-122"/>
                <a:cs typeface="Cambria" pitchFamily="34" charset="-120"/>
              </a:rPr>
              <a:t> облачных технологий</a:t>
            </a:r>
            <a:endParaRPr lang="en-US" sz="2800" dirty="0"/>
          </a:p>
        </p:txBody>
      </p:sp>
      <p:sp>
        <p:nvSpPr>
          <p:cNvPr id="3" name="Shape 1"/>
          <p:cNvSpPr/>
          <p:nvPr/>
        </p:nvSpPr>
        <p:spPr>
          <a:xfrm>
            <a:off x="640080" y="1417320"/>
            <a:ext cx="5257800" cy="502920"/>
          </a:xfrm>
          <a:prstGeom prst="roundRect">
            <a:avLst>
              <a:gd name="adj" fmla="val 14545"/>
            </a:avLst>
          </a:prstGeom>
          <a:solidFill>
            <a:srgbClr val="1C7293"/>
          </a:solidFill>
          <a:ln/>
        </p:spPr>
      </p:sp>
      <p:sp>
        <p:nvSpPr>
          <p:cNvPr id="4" name="Text 2"/>
          <p:cNvSpPr txBox="1"/>
          <p:nvPr/>
        </p:nvSpPr>
        <p:spPr>
          <a:xfrm>
            <a:off x="640080" y="1417320"/>
            <a:ext cx="52578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Преимущества</a:t>
            </a:r>
            <a:endParaRPr lang="en-US" sz="1600" dirty="0"/>
          </a:p>
        </p:txBody>
      </p:sp>
      <p:sp>
        <p:nvSpPr>
          <p:cNvPr id="5" name="Shape 3"/>
          <p:cNvSpPr/>
          <p:nvPr/>
        </p:nvSpPr>
        <p:spPr>
          <a:xfrm>
            <a:off x="6263640" y="1417320"/>
            <a:ext cx="5257800" cy="502920"/>
          </a:xfrm>
          <a:prstGeom prst="roundRect">
            <a:avLst>
              <a:gd name="adj" fmla="val 14545"/>
            </a:avLst>
          </a:prstGeom>
          <a:solidFill>
            <a:srgbClr val="21295C"/>
          </a:solidFill>
          <a:ln/>
        </p:spPr>
      </p:sp>
      <p:sp>
        <p:nvSpPr>
          <p:cNvPr id="6" name="Text 4"/>
          <p:cNvSpPr txBox="1"/>
          <p:nvPr/>
        </p:nvSpPr>
        <p:spPr>
          <a:xfrm>
            <a:off x="6263640" y="1417320"/>
            <a:ext cx="5257800" cy="502920"/>
          </a:xfrm>
          <a:prstGeom prst="rect">
            <a:avLst/>
          </a:prstGeom>
          <a:noFill/>
          <a:ln/>
        </p:spPr>
        <p:txBody>
          <a:bodyPr wrap="square" lIns="0" tIns="0" rIns="0" bIns="0" rtlCol="0" anchor="ctr"/>
          <a:lstStyle/>
          <a:p>
            <a:pPr marL="0" indent="0" algn="ctr">
              <a:buNone/>
            </a:pPr>
            <a:r>
              <a:rPr lang="ru-RU" sz="1600" b="1" dirty="0">
                <a:solidFill>
                  <a:srgbClr val="FFFFFF"/>
                </a:solidFill>
                <a:latin typeface="Calibri" pitchFamily="34" charset="0"/>
                <a:ea typeface="Calibri" pitchFamily="34" charset="-122"/>
                <a:cs typeface="Calibri" pitchFamily="34" charset="-120"/>
              </a:rPr>
              <a:t>Недостатки</a:t>
            </a:r>
            <a:endParaRPr lang="en-US" sz="1600" dirty="0"/>
          </a:p>
        </p:txBody>
      </p:sp>
      <p:sp>
        <p:nvSpPr>
          <p:cNvPr id="7" name="Shape 5"/>
          <p:cNvSpPr/>
          <p:nvPr/>
        </p:nvSpPr>
        <p:spPr>
          <a:xfrm>
            <a:off x="640080" y="2057400"/>
            <a:ext cx="5257800" cy="640080"/>
          </a:xfrm>
          <a:prstGeom prst="rect">
            <a:avLst/>
          </a:prstGeom>
          <a:solidFill>
            <a:srgbClr val="FFFFFF"/>
          </a:solidFill>
          <a:ln/>
        </p:spPr>
      </p:sp>
      <p:sp>
        <p:nvSpPr>
          <p:cNvPr id="8" name="Shape 6"/>
          <p:cNvSpPr/>
          <p:nvPr/>
        </p:nvSpPr>
        <p:spPr>
          <a:xfrm>
            <a:off x="6263640" y="2057400"/>
            <a:ext cx="5257800" cy="640080"/>
          </a:xfrm>
          <a:prstGeom prst="rect">
            <a:avLst/>
          </a:prstGeom>
          <a:solidFill>
            <a:srgbClr val="FFFFFF"/>
          </a:solidFill>
          <a:ln/>
        </p:spPr>
      </p:sp>
      <p:sp>
        <p:nvSpPr>
          <p:cNvPr id="9" name="Text 7"/>
          <p:cNvSpPr txBox="1"/>
          <p:nvPr/>
        </p:nvSpPr>
        <p:spPr>
          <a:xfrm>
            <a:off x="868680" y="2057400"/>
            <a:ext cx="4800600" cy="640080"/>
          </a:xfrm>
          <a:prstGeom prst="rect">
            <a:avLst/>
          </a:prstGeom>
          <a:noFill/>
          <a:ln/>
        </p:spPr>
        <p:txBody>
          <a:bodyPr wrap="square" lIns="0" tIns="0" rIns="0" bIns="0" rtlCol="0" anchor="ctr"/>
          <a:lstStyle/>
          <a:p>
            <a:pPr marL="0" indent="0">
              <a:buNone/>
            </a:pPr>
            <a:r>
              <a:rPr lang="en-US" sz="1450" dirty="0">
                <a:solidFill>
                  <a:srgbClr val="142433"/>
                </a:solidFill>
                <a:latin typeface="Calibri" pitchFamily="34" charset="0"/>
                <a:ea typeface="Calibri" pitchFamily="34" charset="-122"/>
                <a:cs typeface="Calibri" pitchFamily="34" charset="-120"/>
              </a:rPr>
              <a:t>✔  Доступность</a:t>
            </a:r>
            <a:endParaRPr lang="en-US" sz="1450" dirty="0"/>
          </a:p>
        </p:txBody>
      </p:sp>
      <p:sp>
        <p:nvSpPr>
          <p:cNvPr id="10" name="Text 8"/>
          <p:cNvSpPr txBox="1"/>
          <p:nvPr/>
        </p:nvSpPr>
        <p:spPr>
          <a:xfrm>
            <a:off x="6492240" y="2057400"/>
            <a:ext cx="4800600" cy="640080"/>
          </a:xfrm>
          <a:prstGeom prst="rect">
            <a:avLst/>
          </a:prstGeom>
          <a:noFill/>
          <a:ln/>
        </p:spPr>
        <p:txBody>
          <a:bodyPr wrap="square" lIns="0" tIns="0" rIns="0" bIns="0" rtlCol="0" anchor="ctr"/>
          <a:lstStyle/>
          <a:p>
            <a:pPr marL="0" indent="0">
              <a:buNone/>
            </a:pPr>
            <a:r>
              <a:rPr lang="en-US" sz="1450" dirty="0">
                <a:solidFill>
                  <a:srgbClr val="21295C"/>
                </a:solidFill>
                <a:latin typeface="Calibri" pitchFamily="34" charset="0"/>
                <a:ea typeface="Calibri" pitchFamily="34" charset="-122"/>
                <a:cs typeface="Calibri" pitchFamily="34" charset="-120"/>
              </a:rPr>
              <a:t>⚠  Зависимость от Интернета</a:t>
            </a:r>
            <a:endParaRPr lang="en-US" sz="1450" dirty="0"/>
          </a:p>
        </p:txBody>
      </p:sp>
      <p:sp>
        <p:nvSpPr>
          <p:cNvPr id="11" name="Shape 9"/>
          <p:cNvSpPr/>
          <p:nvPr/>
        </p:nvSpPr>
        <p:spPr>
          <a:xfrm>
            <a:off x="640080" y="2770632"/>
            <a:ext cx="5257800" cy="640080"/>
          </a:xfrm>
          <a:prstGeom prst="rect">
            <a:avLst/>
          </a:prstGeom>
          <a:solidFill>
            <a:srgbClr val="EAF3F6"/>
          </a:solidFill>
          <a:ln/>
        </p:spPr>
      </p:sp>
      <p:sp>
        <p:nvSpPr>
          <p:cNvPr id="12" name="Shape 10"/>
          <p:cNvSpPr/>
          <p:nvPr/>
        </p:nvSpPr>
        <p:spPr>
          <a:xfrm>
            <a:off x="6263640" y="2770632"/>
            <a:ext cx="5257800" cy="640080"/>
          </a:xfrm>
          <a:prstGeom prst="rect">
            <a:avLst/>
          </a:prstGeom>
          <a:solidFill>
            <a:srgbClr val="EAF3F6"/>
          </a:solidFill>
          <a:ln/>
        </p:spPr>
      </p:sp>
      <p:sp>
        <p:nvSpPr>
          <p:cNvPr id="13" name="Text 11"/>
          <p:cNvSpPr txBox="1"/>
          <p:nvPr/>
        </p:nvSpPr>
        <p:spPr>
          <a:xfrm>
            <a:off x="868680" y="2770632"/>
            <a:ext cx="4800600" cy="640080"/>
          </a:xfrm>
          <a:prstGeom prst="rect">
            <a:avLst/>
          </a:prstGeom>
          <a:noFill/>
          <a:ln/>
        </p:spPr>
        <p:txBody>
          <a:bodyPr wrap="square" lIns="0" tIns="0" rIns="0" bIns="0" rtlCol="0" anchor="ctr"/>
          <a:lstStyle/>
          <a:p>
            <a:pPr marL="0" indent="0">
              <a:buNone/>
            </a:pPr>
            <a:r>
              <a:rPr lang="en-US" sz="1450" dirty="0">
                <a:solidFill>
                  <a:srgbClr val="142433"/>
                </a:solidFill>
                <a:latin typeface="Calibri" pitchFamily="34" charset="0"/>
                <a:ea typeface="Calibri" pitchFamily="34" charset="-122"/>
                <a:cs typeface="Calibri" pitchFamily="34" charset="-120"/>
              </a:rPr>
              <a:t>✔  Совместная работа</a:t>
            </a:r>
            <a:endParaRPr lang="en-US" sz="1450" dirty="0"/>
          </a:p>
        </p:txBody>
      </p:sp>
      <p:sp>
        <p:nvSpPr>
          <p:cNvPr id="14" name="Text 12"/>
          <p:cNvSpPr txBox="1"/>
          <p:nvPr/>
        </p:nvSpPr>
        <p:spPr>
          <a:xfrm>
            <a:off x="6492240" y="2770632"/>
            <a:ext cx="4800600" cy="640080"/>
          </a:xfrm>
          <a:prstGeom prst="rect">
            <a:avLst/>
          </a:prstGeom>
          <a:noFill/>
          <a:ln/>
        </p:spPr>
        <p:txBody>
          <a:bodyPr wrap="square" lIns="0" tIns="0" rIns="0" bIns="0" rtlCol="0" anchor="ctr"/>
          <a:lstStyle/>
          <a:p>
            <a:pPr marL="0" indent="0">
              <a:buNone/>
            </a:pPr>
            <a:r>
              <a:rPr lang="en-US" sz="1450" dirty="0">
                <a:solidFill>
                  <a:srgbClr val="21295C"/>
                </a:solidFill>
                <a:latin typeface="Calibri" pitchFamily="34" charset="0"/>
                <a:ea typeface="Calibri" pitchFamily="34" charset="-122"/>
                <a:cs typeface="Calibri" pitchFamily="34" charset="-120"/>
              </a:rPr>
              <a:t>⚠  Безопасность данных</a:t>
            </a:r>
            <a:endParaRPr lang="en-US" sz="1450" dirty="0"/>
          </a:p>
        </p:txBody>
      </p:sp>
      <p:sp>
        <p:nvSpPr>
          <p:cNvPr id="15" name="Shape 13"/>
          <p:cNvSpPr/>
          <p:nvPr/>
        </p:nvSpPr>
        <p:spPr>
          <a:xfrm>
            <a:off x="640080" y="3483864"/>
            <a:ext cx="5257800" cy="640080"/>
          </a:xfrm>
          <a:prstGeom prst="rect">
            <a:avLst/>
          </a:prstGeom>
          <a:solidFill>
            <a:srgbClr val="FFFFFF"/>
          </a:solidFill>
          <a:ln/>
        </p:spPr>
      </p:sp>
      <p:sp>
        <p:nvSpPr>
          <p:cNvPr id="16" name="Shape 14"/>
          <p:cNvSpPr/>
          <p:nvPr/>
        </p:nvSpPr>
        <p:spPr>
          <a:xfrm>
            <a:off x="6263640" y="3483864"/>
            <a:ext cx="5257800" cy="640080"/>
          </a:xfrm>
          <a:prstGeom prst="rect">
            <a:avLst/>
          </a:prstGeom>
          <a:solidFill>
            <a:srgbClr val="FFFFFF"/>
          </a:solidFill>
          <a:ln/>
        </p:spPr>
      </p:sp>
      <p:sp>
        <p:nvSpPr>
          <p:cNvPr id="17" name="Text 15"/>
          <p:cNvSpPr txBox="1"/>
          <p:nvPr/>
        </p:nvSpPr>
        <p:spPr>
          <a:xfrm>
            <a:off x="868680" y="3483864"/>
            <a:ext cx="4800600" cy="640080"/>
          </a:xfrm>
          <a:prstGeom prst="rect">
            <a:avLst/>
          </a:prstGeom>
          <a:noFill/>
          <a:ln/>
        </p:spPr>
        <p:txBody>
          <a:bodyPr wrap="square" lIns="0" tIns="0" rIns="0" bIns="0" rtlCol="0" anchor="ctr"/>
          <a:lstStyle/>
          <a:p>
            <a:pPr marL="0" indent="0">
              <a:buNone/>
            </a:pPr>
            <a:r>
              <a:rPr lang="en-US" sz="1450" dirty="0">
                <a:solidFill>
                  <a:srgbClr val="142433"/>
                </a:solidFill>
                <a:latin typeface="Calibri" pitchFamily="34" charset="0"/>
                <a:ea typeface="Calibri" pitchFamily="34" charset="-122"/>
                <a:cs typeface="Calibri" pitchFamily="34" charset="-120"/>
              </a:rPr>
              <a:t>✔  Масштабируемость</a:t>
            </a:r>
            <a:endParaRPr lang="en-US" sz="1450" dirty="0"/>
          </a:p>
        </p:txBody>
      </p:sp>
      <p:sp>
        <p:nvSpPr>
          <p:cNvPr id="18" name="Text 16"/>
          <p:cNvSpPr txBox="1"/>
          <p:nvPr/>
        </p:nvSpPr>
        <p:spPr>
          <a:xfrm>
            <a:off x="6492240" y="3483864"/>
            <a:ext cx="4800600" cy="640080"/>
          </a:xfrm>
          <a:prstGeom prst="rect">
            <a:avLst/>
          </a:prstGeom>
          <a:noFill/>
          <a:ln/>
        </p:spPr>
        <p:txBody>
          <a:bodyPr wrap="square" lIns="0" tIns="0" rIns="0" bIns="0" rtlCol="0" anchor="ctr"/>
          <a:lstStyle/>
          <a:p>
            <a:pPr marL="0" indent="0">
              <a:buNone/>
            </a:pPr>
            <a:r>
              <a:rPr lang="en-US" sz="1450" dirty="0">
                <a:solidFill>
                  <a:srgbClr val="21295C"/>
                </a:solidFill>
                <a:latin typeface="Calibri" pitchFamily="34" charset="0"/>
                <a:ea typeface="Calibri" pitchFamily="34" charset="-122"/>
                <a:cs typeface="Calibri" pitchFamily="34" charset="-120"/>
              </a:rPr>
              <a:t>⚠  Зависимость от провайдера</a:t>
            </a:r>
            <a:endParaRPr lang="en-US" sz="1450" dirty="0"/>
          </a:p>
        </p:txBody>
      </p:sp>
      <p:sp>
        <p:nvSpPr>
          <p:cNvPr id="19" name="Shape 17"/>
          <p:cNvSpPr/>
          <p:nvPr/>
        </p:nvSpPr>
        <p:spPr>
          <a:xfrm>
            <a:off x="640080" y="4197096"/>
            <a:ext cx="5257800" cy="640080"/>
          </a:xfrm>
          <a:prstGeom prst="rect">
            <a:avLst/>
          </a:prstGeom>
          <a:solidFill>
            <a:srgbClr val="EAF3F6"/>
          </a:solidFill>
          <a:ln/>
        </p:spPr>
      </p:sp>
      <p:sp>
        <p:nvSpPr>
          <p:cNvPr id="20" name="Shape 18"/>
          <p:cNvSpPr/>
          <p:nvPr/>
        </p:nvSpPr>
        <p:spPr>
          <a:xfrm>
            <a:off x="6263640" y="4197096"/>
            <a:ext cx="5257800" cy="640080"/>
          </a:xfrm>
          <a:prstGeom prst="rect">
            <a:avLst/>
          </a:prstGeom>
          <a:solidFill>
            <a:srgbClr val="EAF3F6"/>
          </a:solidFill>
          <a:ln/>
        </p:spPr>
      </p:sp>
      <p:sp>
        <p:nvSpPr>
          <p:cNvPr id="21" name="Text 19"/>
          <p:cNvSpPr txBox="1"/>
          <p:nvPr/>
        </p:nvSpPr>
        <p:spPr>
          <a:xfrm>
            <a:off x="868680" y="4197096"/>
            <a:ext cx="4800600" cy="640080"/>
          </a:xfrm>
          <a:prstGeom prst="rect">
            <a:avLst/>
          </a:prstGeom>
          <a:noFill/>
          <a:ln/>
        </p:spPr>
        <p:txBody>
          <a:bodyPr wrap="square" lIns="0" tIns="0" rIns="0" bIns="0" rtlCol="0" anchor="ctr"/>
          <a:lstStyle/>
          <a:p>
            <a:pPr marL="0" indent="0">
              <a:buNone/>
            </a:pPr>
            <a:r>
              <a:rPr lang="en-US" sz="1450" dirty="0">
                <a:solidFill>
                  <a:srgbClr val="142433"/>
                </a:solidFill>
                <a:latin typeface="Calibri" pitchFamily="34" charset="0"/>
                <a:ea typeface="Calibri" pitchFamily="34" charset="-122"/>
                <a:cs typeface="Calibri" pitchFamily="34" charset="-120"/>
              </a:rPr>
              <a:t>✔  Экономия</a:t>
            </a:r>
            <a:endParaRPr lang="en-US" sz="1450" dirty="0"/>
          </a:p>
        </p:txBody>
      </p:sp>
      <p:sp>
        <p:nvSpPr>
          <p:cNvPr id="22" name="Text 20"/>
          <p:cNvSpPr txBox="1"/>
          <p:nvPr/>
        </p:nvSpPr>
        <p:spPr>
          <a:xfrm>
            <a:off x="6492240" y="4197096"/>
            <a:ext cx="4800600" cy="640080"/>
          </a:xfrm>
          <a:prstGeom prst="rect">
            <a:avLst/>
          </a:prstGeom>
          <a:noFill/>
          <a:ln/>
        </p:spPr>
        <p:txBody>
          <a:bodyPr wrap="square" lIns="0" tIns="0" rIns="0" bIns="0" rtlCol="0" anchor="ctr"/>
          <a:lstStyle/>
          <a:p>
            <a:pPr marL="0" indent="0">
              <a:buNone/>
            </a:pPr>
            <a:r>
              <a:rPr lang="en-US" sz="1450" dirty="0">
                <a:solidFill>
                  <a:srgbClr val="21295C"/>
                </a:solidFill>
                <a:latin typeface="Calibri" pitchFamily="34" charset="0"/>
                <a:ea typeface="Calibri" pitchFamily="34" charset="-122"/>
                <a:cs typeface="Calibri" pitchFamily="34" charset="-120"/>
              </a:rPr>
              <a:t>⚠  Технические сбои</a:t>
            </a:r>
            <a:endParaRPr lang="en-US" sz="1450" dirty="0"/>
          </a:p>
        </p:txBody>
      </p:sp>
      <p:sp>
        <p:nvSpPr>
          <p:cNvPr id="23" name="Shape 21"/>
          <p:cNvSpPr/>
          <p:nvPr/>
        </p:nvSpPr>
        <p:spPr>
          <a:xfrm>
            <a:off x="640080" y="4910328"/>
            <a:ext cx="5257800" cy="640080"/>
          </a:xfrm>
          <a:prstGeom prst="rect">
            <a:avLst/>
          </a:prstGeom>
          <a:solidFill>
            <a:srgbClr val="FFFFFF"/>
          </a:solidFill>
          <a:ln/>
        </p:spPr>
      </p:sp>
      <p:sp>
        <p:nvSpPr>
          <p:cNvPr id="24" name="Shape 22"/>
          <p:cNvSpPr/>
          <p:nvPr/>
        </p:nvSpPr>
        <p:spPr>
          <a:xfrm>
            <a:off x="6263640" y="4910328"/>
            <a:ext cx="5257800" cy="640080"/>
          </a:xfrm>
          <a:prstGeom prst="rect">
            <a:avLst/>
          </a:prstGeom>
          <a:solidFill>
            <a:srgbClr val="FFFFFF"/>
          </a:solidFill>
          <a:ln/>
        </p:spPr>
      </p:sp>
      <p:sp>
        <p:nvSpPr>
          <p:cNvPr id="25" name="Text 23"/>
          <p:cNvSpPr txBox="1"/>
          <p:nvPr/>
        </p:nvSpPr>
        <p:spPr>
          <a:xfrm>
            <a:off x="868680" y="4910328"/>
            <a:ext cx="4800600" cy="640080"/>
          </a:xfrm>
          <a:prstGeom prst="rect">
            <a:avLst/>
          </a:prstGeom>
          <a:noFill/>
          <a:ln/>
        </p:spPr>
        <p:txBody>
          <a:bodyPr wrap="square" lIns="0" tIns="0" rIns="0" bIns="0" rtlCol="0" anchor="ctr"/>
          <a:lstStyle/>
          <a:p>
            <a:pPr marL="0" indent="0">
              <a:buNone/>
            </a:pPr>
            <a:r>
              <a:rPr lang="en-US" sz="1450" dirty="0">
                <a:solidFill>
                  <a:srgbClr val="142433"/>
                </a:solidFill>
                <a:latin typeface="Calibri" pitchFamily="34" charset="0"/>
                <a:ea typeface="Calibri" pitchFamily="34" charset="-122"/>
                <a:cs typeface="Calibri" pitchFamily="34" charset="-120"/>
              </a:rPr>
              <a:t>✔  Удобство</a:t>
            </a:r>
            <a:endParaRPr lang="en-US" sz="1450" dirty="0"/>
          </a:p>
        </p:txBody>
      </p:sp>
      <p:sp>
        <p:nvSpPr>
          <p:cNvPr id="26" name="Text 24"/>
          <p:cNvSpPr txBox="1"/>
          <p:nvPr/>
        </p:nvSpPr>
        <p:spPr>
          <a:xfrm>
            <a:off x="6492240" y="4910328"/>
            <a:ext cx="4800600" cy="640080"/>
          </a:xfrm>
          <a:prstGeom prst="rect">
            <a:avLst/>
          </a:prstGeom>
          <a:noFill/>
          <a:ln/>
        </p:spPr>
        <p:txBody>
          <a:bodyPr wrap="square" lIns="0" tIns="0" rIns="0" bIns="0" rtlCol="0" anchor="ctr"/>
          <a:lstStyle/>
          <a:p>
            <a:pPr marL="0" indent="0">
              <a:buNone/>
            </a:pPr>
            <a:r>
              <a:rPr lang="en-US" sz="1450" dirty="0">
                <a:solidFill>
                  <a:srgbClr val="21295C"/>
                </a:solidFill>
                <a:latin typeface="Calibri" pitchFamily="34" charset="0"/>
                <a:ea typeface="Calibri" pitchFamily="34" charset="-122"/>
                <a:cs typeface="Calibri" pitchFamily="34" charset="-120"/>
              </a:rPr>
              <a:t>⚠  Конфиденциальность</a:t>
            </a:r>
            <a:endParaRPr lang="en-US" sz="1450" dirty="0"/>
          </a:p>
        </p:txBody>
      </p:sp>
      <p:sp>
        <p:nvSpPr>
          <p:cNvPr id="27" name="Text 25"/>
          <p:cNvSpPr txBox="1"/>
          <p:nvPr/>
        </p:nvSpPr>
        <p:spPr>
          <a:xfrm>
            <a:off x="11457432" y="6400800"/>
            <a:ext cx="457200" cy="274320"/>
          </a:xfrm>
          <a:prstGeom prst="rect">
            <a:avLst/>
          </a:prstGeom>
          <a:noFill/>
          <a:ln/>
        </p:spPr>
        <p:txBody>
          <a:bodyPr wrap="square" lIns="0" tIns="0" rIns="0" bIns="0" rtlCol="0" anchor="ctr"/>
          <a:lstStyle/>
          <a:p>
            <a:pPr marL="0" indent="0" algn="r">
              <a:buNone/>
            </a:pPr>
            <a:r>
              <a:rPr lang="en-US" sz="1000" dirty="0">
                <a:solidFill>
                  <a:srgbClr val="5B748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Перспективы развития</a:t>
            </a:r>
            <a:endParaRPr lang="en-US" sz="3200" dirty="0"/>
          </a:p>
        </p:txBody>
      </p:sp>
      <p:sp>
        <p:nvSpPr>
          <p:cNvPr id="3" name="Shape 1"/>
          <p:cNvSpPr/>
          <p:nvPr/>
        </p:nvSpPr>
        <p:spPr>
          <a:xfrm>
            <a:off x="640080" y="1554480"/>
            <a:ext cx="3429000" cy="1828800"/>
          </a:xfrm>
          <a:prstGeom prst="roundRect">
            <a:avLst>
              <a:gd name="adj" fmla="val 5000"/>
            </a:avLst>
          </a:prstGeom>
          <a:solidFill>
            <a:srgbClr val="065A82">
              <a:alpha val="80000"/>
            </a:srgbClr>
          </a:solidFill>
          <a:ln w="12700">
            <a:solidFill>
              <a:srgbClr val="1C7293"/>
            </a:solidFill>
            <a:prstDash val="solid"/>
          </a:ln>
        </p:spPr>
      </p:sp>
      <p:sp>
        <p:nvSpPr>
          <p:cNvPr id="4" name="Text 2"/>
          <p:cNvSpPr txBox="1"/>
          <p:nvPr/>
        </p:nvSpPr>
        <p:spPr>
          <a:xfrm>
            <a:off x="640080" y="1783080"/>
            <a:ext cx="3429000" cy="685800"/>
          </a:xfrm>
          <a:prstGeom prst="rect">
            <a:avLst/>
          </a:prstGeom>
          <a:noFill/>
          <a:ln/>
        </p:spPr>
        <p:txBody>
          <a:bodyPr wrap="square" lIns="0" tIns="0" rIns="0" bIns="0" rtlCol="0" anchor="ctr"/>
          <a:lstStyle/>
          <a:p>
            <a:pPr marL="0" indent="0" algn="ctr">
              <a:buNone/>
            </a:pPr>
            <a:endParaRPr lang="en-US" sz="3200" dirty="0"/>
          </a:p>
        </p:txBody>
      </p:sp>
      <p:sp>
        <p:nvSpPr>
          <p:cNvPr id="5" name="Text 3"/>
          <p:cNvSpPr txBox="1"/>
          <p:nvPr/>
        </p:nvSpPr>
        <p:spPr>
          <a:xfrm>
            <a:off x="822960" y="2514600"/>
            <a:ext cx="3063240" cy="731520"/>
          </a:xfrm>
          <a:prstGeom prst="rect">
            <a:avLst/>
          </a:prstGeom>
          <a:noFill/>
          <a:ln/>
        </p:spPr>
        <p:txBody>
          <a:bodyPr wrap="square" lIns="0" tIns="0" rIns="0" bIns="0"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Искусственный интеллект</a:t>
            </a:r>
            <a:endParaRPr lang="en-US" sz="1500" dirty="0"/>
          </a:p>
        </p:txBody>
      </p:sp>
      <p:sp>
        <p:nvSpPr>
          <p:cNvPr id="6" name="Shape 4"/>
          <p:cNvSpPr/>
          <p:nvPr/>
        </p:nvSpPr>
        <p:spPr>
          <a:xfrm>
            <a:off x="4343400" y="1554480"/>
            <a:ext cx="3429000" cy="1828800"/>
          </a:xfrm>
          <a:prstGeom prst="roundRect">
            <a:avLst>
              <a:gd name="adj" fmla="val 5000"/>
            </a:avLst>
          </a:prstGeom>
          <a:solidFill>
            <a:srgbClr val="065A82">
              <a:alpha val="80000"/>
            </a:srgbClr>
          </a:solidFill>
          <a:ln w="12700">
            <a:solidFill>
              <a:srgbClr val="1C7293"/>
            </a:solidFill>
            <a:prstDash val="solid"/>
          </a:ln>
        </p:spPr>
      </p:sp>
      <p:sp>
        <p:nvSpPr>
          <p:cNvPr id="7" name="Text 5"/>
          <p:cNvSpPr txBox="1"/>
          <p:nvPr/>
        </p:nvSpPr>
        <p:spPr>
          <a:xfrm>
            <a:off x="4343400" y="1783080"/>
            <a:ext cx="3429000" cy="685800"/>
          </a:xfrm>
          <a:prstGeom prst="rect">
            <a:avLst/>
          </a:prstGeom>
          <a:noFill/>
          <a:ln/>
        </p:spPr>
        <p:txBody>
          <a:bodyPr wrap="square" lIns="0" tIns="0" rIns="0" bIns="0" rtlCol="0" anchor="ctr"/>
          <a:lstStyle/>
          <a:p>
            <a:pPr marL="0" indent="0" algn="ctr">
              <a:buNone/>
            </a:pPr>
            <a:endParaRPr lang="en-US" sz="3200" dirty="0"/>
          </a:p>
        </p:txBody>
      </p:sp>
      <p:sp>
        <p:nvSpPr>
          <p:cNvPr id="8" name="Text 6"/>
          <p:cNvSpPr txBox="1"/>
          <p:nvPr/>
        </p:nvSpPr>
        <p:spPr>
          <a:xfrm>
            <a:off x="4526280" y="2514600"/>
            <a:ext cx="3063240" cy="731520"/>
          </a:xfrm>
          <a:prstGeom prst="rect">
            <a:avLst/>
          </a:prstGeom>
          <a:noFill/>
          <a:ln/>
        </p:spPr>
        <p:txBody>
          <a:bodyPr wrap="square" lIns="0" tIns="0" rIns="0" bIns="0"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VR / AR</a:t>
            </a:r>
            <a:endParaRPr lang="en-US" sz="1500" dirty="0"/>
          </a:p>
        </p:txBody>
      </p:sp>
      <p:sp>
        <p:nvSpPr>
          <p:cNvPr id="9" name="Shape 7"/>
          <p:cNvSpPr/>
          <p:nvPr/>
        </p:nvSpPr>
        <p:spPr>
          <a:xfrm>
            <a:off x="8046720" y="1554480"/>
            <a:ext cx="3429000" cy="1828800"/>
          </a:xfrm>
          <a:prstGeom prst="roundRect">
            <a:avLst>
              <a:gd name="adj" fmla="val 5000"/>
            </a:avLst>
          </a:prstGeom>
          <a:solidFill>
            <a:srgbClr val="065A82">
              <a:alpha val="80000"/>
            </a:srgbClr>
          </a:solidFill>
          <a:ln w="12700">
            <a:solidFill>
              <a:srgbClr val="1C7293"/>
            </a:solidFill>
            <a:prstDash val="solid"/>
          </a:ln>
        </p:spPr>
      </p:sp>
      <p:sp>
        <p:nvSpPr>
          <p:cNvPr id="11" name="Text 9"/>
          <p:cNvSpPr txBox="1"/>
          <p:nvPr/>
        </p:nvSpPr>
        <p:spPr>
          <a:xfrm>
            <a:off x="8229600" y="2514600"/>
            <a:ext cx="3063240" cy="731520"/>
          </a:xfrm>
          <a:prstGeom prst="rect">
            <a:avLst/>
          </a:prstGeom>
          <a:noFill/>
          <a:ln/>
        </p:spPr>
        <p:txBody>
          <a:bodyPr wrap="square" lIns="0" tIns="0" rIns="0" bIns="0"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Виртуальные лаборатории</a:t>
            </a:r>
            <a:endParaRPr lang="en-US" sz="1500" dirty="0"/>
          </a:p>
        </p:txBody>
      </p:sp>
      <p:sp>
        <p:nvSpPr>
          <p:cNvPr id="12" name="Shape 10"/>
          <p:cNvSpPr/>
          <p:nvPr/>
        </p:nvSpPr>
        <p:spPr>
          <a:xfrm>
            <a:off x="640080" y="3657600"/>
            <a:ext cx="3429000" cy="1828800"/>
          </a:xfrm>
          <a:prstGeom prst="roundRect">
            <a:avLst>
              <a:gd name="adj" fmla="val 5000"/>
            </a:avLst>
          </a:prstGeom>
          <a:solidFill>
            <a:srgbClr val="065A82">
              <a:alpha val="80000"/>
            </a:srgbClr>
          </a:solidFill>
          <a:ln w="12700">
            <a:solidFill>
              <a:srgbClr val="1C7293"/>
            </a:solidFill>
            <a:prstDash val="solid"/>
          </a:ln>
        </p:spPr>
      </p:sp>
      <p:sp>
        <p:nvSpPr>
          <p:cNvPr id="13" name="Text 11"/>
          <p:cNvSpPr txBox="1"/>
          <p:nvPr/>
        </p:nvSpPr>
        <p:spPr>
          <a:xfrm>
            <a:off x="640080" y="3886200"/>
            <a:ext cx="3429000" cy="685800"/>
          </a:xfrm>
          <a:prstGeom prst="rect">
            <a:avLst/>
          </a:prstGeom>
          <a:noFill/>
          <a:ln/>
        </p:spPr>
        <p:txBody>
          <a:bodyPr wrap="square" lIns="0" tIns="0" rIns="0" bIns="0" rtlCol="0" anchor="ctr"/>
          <a:lstStyle/>
          <a:p>
            <a:pPr marL="0" indent="0" algn="ctr">
              <a:buNone/>
            </a:pPr>
            <a:endParaRPr lang="en-US" sz="3200" dirty="0"/>
          </a:p>
        </p:txBody>
      </p:sp>
      <p:sp>
        <p:nvSpPr>
          <p:cNvPr id="14" name="Text 12"/>
          <p:cNvSpPr txBox="1"/>
          <p:nvPr/>
        </p:nvSpPr>
        <p:spPr>
          <a:xfrm>
            <a:off x="822960" y="4617720"/>
            <a:ext cx="3063240" cy="731520"/>
          </a:xfrm>
          <a:prstGeom prst="rect">
            <a:avLst/>
          </a:prstGeom>
          <a:noFill/>
          <a:ln/>
        </p:spPr>
        <p:txBody>
          <a:bodyPr wrap="square" lIns="0" tIns="0" rIns="0" bIns="0"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Анализ успеваемости</a:t>
            </a:r>
            <a:endParaRPr lang="en-US" sz="1500" dirty="0"/>
          </a:p>
        </p:txBody>
      </p:sp>
      <p:sp>
        <p:nvSpPr>
          <p:cNvPr id="15" name="Shape 13"/>
          <p:cNvSpPr/>
          <p:nvPr/>
        </p:nvSpPr>
        <p:spPr>
          <a:xfrm>
            <a:off x="4343400" y="3657600"/>
            <a:ext cx="3429000" cy="1828800"/>
          </a:xfrm>
          <a:prstGeom prst="roundRect">
            <a:avLst>
              <a:gd name="adj" fmla="val 5000"/>
            </a:avLst>
          </a:prstGeom>
          <a:solidFill>
            <a:srgbClr val="065A82">
              <a:alpha val="80000"/>
            </a:srgbClr>
          </a:solidFill>
          <a:ln w="12700">
            <a:solidFill>
              <a:srgbClr val="1C7293"/>
            </a:solidFill>
            <a:prstDash val="solid"/>
          </a:ln>
        </p:spPr>
      </p:sp>
      <p:sp>
        <p:nvSpPr>
          <p:cNvPr id="17" name="Text 15"/>
          <p:cNvSpPr txBox="1"/>
          <p:nvPr/>
        </p:nvSpPr>
        <p:spPr>
          <a:xfrm>
            <a:off x="4526280" y="4617720"/>
            <a:ext cx="3063240" cy="731520"/>
          </a:xfrm>
          <a:prstGeom prst="rect">
            <a:avLst/>
          </a:prstGeom>
          <a:noFill/>
          <a:ln/>
        </p:spPr>
        <p:txBody>
          <a:bodyPr wrap="square" lIns="0" tIns="0" rIns="0" bIns="0"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Персонализированное обучение</a:t>
            </a:r>
            <a:endParaRPr lang="en-US" sz="1500" dirty="0"/>
          </a:p>
        </p:txBody>
      </p:sp>
      <p:sp>
        <p:nvSpPr>
          <p:cNvPr id="18" name="Shape 16"/>
          <p:cNvSpPr/>
          <p:nvPr/>
        </p:nvSpPr>
        <p:spPr>
          <a:xfrm>
            <a:off x="8046720" y="3657600"/>
            <a:ext cx="3429000" cy="1828800"/>
          </a:xfrm>
          <a:prstGeom prst="roundRect">
            <a:avLst>
              <a:gd name="adj" fmla="val 5000"/>
            </a:avLst>
          </a:prstGeom>
          <a:solidFill>
            <a:srgbClr val="065A82">
              <a:alpha val="80000"/>
            </a:srgbClr>
          </a:solidFill>
          <a:ln w="12700">
            <a:solidFill>
              <a:srgbClr val="1C7293"/>
            </a:solidFill>
            <a:prstDash val="solid"/>
          </a:ln>
        </p:spPr>
      </p:sp>
      <p:sp>
        <p:nvSpPr>
          <p:cNvPr id="19" name="Text 17"/>
          <p:cNvSpPr txBox="1"/>
          <p:nvPr/>
        </p:nvSpPr>
        <p:spPr>
          <a:xfrm>
            <a:off x="8046720" y="3886200"/>
            <a:ext cx="3429000" cy="685800"/>
          </a:xfrm>
          <a:prstGeom prst="rect">
            <a:avLst/>
          </a:prstGeom>
          <a:noFill/>
          <a:ln/>
        </p:spPr>
        <p:txBody>
          <a:bodyPr wrap="square" lIns="0" tIns="0" rIns="0" bIns="0" rtlCol="0" anchor="ctr"/>
          <a:lstStyle/>
          <a:p>
            <a:pPr marL="0" indent="0" algn="ctr">
              <a:buNone/>
            </a:pPr>
            <a:endParaRPr lang="en-US" sz="3200" dirty="0"/>
          </a:p>
        </p:txBody>
      </p:sp>
      <p:sp>
        <p:nvSpPr>
          <p:cNvPr id="20" name="Text 18"/>
          <p:cNvSpPr txBox="1"/>
          <p:nvPr/>
        </p:nvSpPr>
        <p:spPr>
          <a:xfrm>
            <a:off x="8229600" y="4617720"/>
            <a:ext cx="3063240" cy="731520"/>
          </a:xfrm>
          <a:prstGeom prst="rect">
            <a:avLst/>
          </a:prstGeom>
          <a:noFill/>
          <a:ln/>
        </p:spPr>
        <p:txBody>
          <a:bodyPr wrap="square" lIns="0" tIns="0" rIns="0" bIns="0"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Развитие облачной инфраструктуры</a:t>
            </a:r>
            <a:endParaRPr lang="en-US" sz="1500" dirty="0"/>
          </a:p>
        </p:txBody>
      </p:sp>
      <p:sp>
        <p:nvSpPr>
          <p:cNvPr id="21" name="Text 19"/>
          <p:cNvSpPr txBox="1"/>
          <p:nvPr/>
        </p:nvSpPr>
        <p:spPr>
          <a:xfrm>
            <a:off x="11457432" y="6400800"/>
            <a:ext cx="457200" cy="274320"/>
          </a:xfrm>
          <a:prstGeom prst="rect">
            <a:avLst/>
          </a:prstGeom>
          <a:noFill/>
          <a:ln/>
        </p:spPr>
        <p:txBody>
          <a:bodyPr wrap="square" lIns="0" tIns="0" rIns="0" bIns="0" rtlCol="0" anchor="ctr"/>
          <a:lstStyle/>
          <a:p>
            <a:pPr marL="0" indent="0" algn="r">
              <a:buNone/>
            </a:pPr>
            <a:r>
              <a:rPr lang="en-US" sz="1000" dirty="0">
                <a:solidFill>
                  <a:srgbClr val="CFE8F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686800" y="841248"/>
            <a:ext cx="1426464" cy="987552"/>
          </a:xfrm>
          <a:prstGeom prst="ellipse">
            <a:avLst/>
          </a:prstGeom>
          <a:solidFill>
            <a:srgbClr val="1C7293">
              <a:alpha val="40000"/>
            </a:srgbClr>
          </a:solidFill>
          <a:ln/>
        </p:spPr>
      </p:sp>
      <p:sp>
        <p:nvSpPr>
          <p:cNvPr id="3" name="Shape 1"/>
          <p:cNvSpPr/>
          <p:nvPr/>
        </p:nvSpPr>
        <p:spPr>
          <a:xfrm>
            <a:off x="9290304" y="457200"/>
            <a:ext cx="1645920" cy="1261872"/>
          </a:xfrm>
          <a:prstGeom prst="ellipse">
            <a:avLst/>
          </a:prstGeom>
          <a:solidFill>
            <a:srgbClr val="1C7293">
              <a:alpha val="40000"/>
            </a:srgbClr>
          </a:solidFill>
          <a:ln/>
        </p:spPr>
      </p:sp>
      <p:sp>
        <p:nvSpPr>
          <p:cNvPr id="4" name="Shape 2"/>
          <p:cNvSpPr/>
          <p:nvPr/>
        </p:nvSpPr>
        <p:spPr>
          <a:xfrm>
            <a:off x="10168128" y="786384"/>
            <a:ext cx="1316736" cy="932688"/>
          </a:xfrm>
          <a:prstGeom prst="ellipse">
            <a:avLst/>
          </a:prstGeom>
          <a:solidFill>
            <a:srgbClr val="1C7293">
              <a:alpha val="40000"/>
            </a:srgbClr>
          </a:solidFill>
          <a:ln/>
        </p:spPr>
      </p:sp>
      <p:sp>
        <p:nvSpPr>
          <p:cNvPr id="5" name="Shape 3"/>
          <p:cNvSpPr/>
          <p:nvPr/>
        </p:nvSpPr>
        <p:spPr>
          <a:xfrm>
            <a:off x="8851392" y="1060704"/>
            <a:ext cx="2414016" cy="713232"/>
          </a:xfrm>
          <a:prstGeom prst="roundRect">
            <a:avLst>
              <a:gd name="adj" fmla="val 19231"/>
            </a:avLst>
          </a:prstGeom>
          <a:solidFill>
            <a:srgbClr val="1C7293">
              <a:alpha val="40000"/>
            </a:srgbClr>
          </a:solidFill>
          <a:ln/>
        </p:spPr>
      </p:sp>
      <p:sp>
        <p:nvSpPr>
          <p:cNvPr id="6" name="Text 4"/>
          <p:cNvSpPr txBox="1"/>
          <p:nvPr/>
        </p:nvSpPr>
        <p:spPr>
          <a:xfrm>
            <a:off x="640080" y="457200"/>
            <a:ext cx="731520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Заключение</a:t>
            </a:r>
            <a:endParaRPr lang="en-US" sz="3400" dirty="0"/>
          </a:p>
        </p:txBody>
      </p:sp>
      <p:sp>
        <p:nvSpPr>
          <p:cNvPr id="7" name="Text 5"/>
          <p:cNvSpPr txBox="1"/>
          <p:nvPr/>
        </p:nvSpPr>
        <p:spPr>
          <a:xfrm>
            <a:off x="640080" y="1234440"/>
            <a:ext cx="7315200" cy="365760"/>
          </a:xfrm>
          <a:prstGeom prst="rect">
            <a:avLst/>
          </a:prstGeom>
          <a:noFill/>
          <a:ln/>
        </p:spPr>
        <p:txBody>
          <a:bodyPr wrap="square" lIns="0" tIns="0" rIns="0" bIns="0" rtlCol="0" anchor="ctr"/>
          <a:lstStyle/>
          <a:p>
            <a:pPr marL="0" indent="0">
              <a:buNone/>
            </a:pPr>
            <a:r>
              <a:rPr lang="en-US" sz="1500" i="1" dirty="0">
                <a:solidFill>
                  <a:srgbClr val="CFE8F3"/>
                </a:solidFill>
                <a:latin typeface="Calibri" pitchFamily="34" charset="0"/>
                <a:ea typeface="Calibri" pitchFamily="34" charset="-122"/>
                <a:cs typeface="Calibri" pitchFamily="34" charset="-120"/>
              </a:rPr>
              <a:t>Облачные технологии позволяют:</a:t>
            </a:r>
            <a:endParaRPr lang="en-US" sz="1500" dirty="0"/>
          </a:p>
        </p:txBody>
      </p:sp>
      <p:sp>
        <p:nvSpPr>
          <p:cNvPr id="8" name="Text 6"/>
          <p:cNvSpPr txBox="1"/>
          <p:nvPr/>
        </p:nvSpPr>
        <p:spPr>
          <a:xfrm>
            <a:off x="777240" y="1691640"/>
            <a:ext cx="7223760" cy="41148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  сделать обучение доступнее</a:t>
            </a:r>
            <a:endParaRPr lang="en-US" sz="1550" dirty="0"/>
          </a:p>
        </p:txBody>
      </p:sp>
      <p:sp>
        <p:nvSpPr>
          <p:cNvPr id="9" name="Text 7"/>
          <p:cNvSpPr txBox="1"/>
          <p:nvPr/>
        </p:nvSpPr>
        <p:spPr>
          <a:xfrm>
            <a:off x="777240" y="2148840"/>
            <a:ext cx="7223760" cy="41148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  упростить совместную работу</a:t>
            </a:r>
            <a:endParaRPr lang="en-US" sz="1550" dirty="0"/>
          </a:p>
        </p:txBody>
      </p:sp>
      <p:sp>
        <p:nvSpPr>
          <p:cNvPr id="10" name="Text 8"/>
          <p:cNvSpPr txBox="1"/>
          <p:nvPr/>
        </p:nvSpPr>
        <p:spPr>
          <a:xfrm>
            <a:off x="777240" y="2606040"/>
            <a:ext cx="7223760" cy="41148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  хранить данные и материалы онлайн</a:t>
            </a:r>
            <a:endParaRPr lang="en-US" sz="1550" dirty="0"/>
          </a:p>
        </p:txBody>
      </p:sp>
      <p:sp>
        <p:nvSpPr>
          <p:cNvPr id="11" name="Text 9"/>
          <p:cNvSpPr txBox="1"/>
          <p:nvPr/>
        </p:nvSpPr>
        <p:spPr>
          <a:xfrm>
            <a:off x="777240" y="3063240"/>
            <a:ext cx="7223760" cy="41148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  использовать современные образовательные сервисы</a:t>
            </a:r>
            <a:endParaRPr lang="en-US" sz="1550" dirty="0"/>
          </a:p>
        </p:txBody>
      </p:sp>
      <p:sp>
        <p:nvSpPr>
          <p:cNvPr id="12" name="Text 10"/>
          <p:cNvSpPr txBox="1"/>
          <p:nvPr/>
        </p:nvSpPr>
        <p:spPr>
          <a:xfrm>
            <a:off x="777240" y="3520440"/>
            <a:ext cx="7223760" cy="41148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  масштабировать IT-инфраструктуру</a:t>
            </a:r>
            <a:endParaRPr lang="en-US" sz="1550" dirty="0"/>
          </a:p>
        </p:txBody>
      </p:sp>
      <p:sp>
        <p:nvSpPr>
          <p:cNvPr id="13" name="Text 11"/>
          <p:cNvSpPr txBox="1"/>
          <p:nvPr/>
        </p:nvSpPr>
        <p:spPr>
          <a:xfrm>
            <a:off x="640080" y="4206240"/>
            <a:ext cx="7223760" cy="502920"/>
          </a:xfrm>
          <a:prstGeom prst="rect">
            <a:avLst/>
          </a:prstGeom>
          <a:noFill/>
          <a:ln/>
        </p:spPr>
        <p:txBody>
          <a:bodyPr wrap="square" lIns="0" tIns="0" rIns="0" bIns="0" rtlCol="0" anchor="ctr"/>
          <a:lstStyle/>
          <a:p>
            <a:pPr marL="0" indent="0">
              <a:buNone/>
            </a:pPr>
            <a:r>
              <a:rPr lang="en-US" sz="2000" b="1" dirty="0">
                <a:solidFill>
                  <a:srgbClr val="CFE8F3"/>
                </a:solidFill>
                <a:latin typeface="Cambria" pitchFamily="34" charset="0"/>
                <a:ea typeface="Cambria" pitchFamily="34" charset="-122"/>
                <a:cs typeface="Cambria" pitchFamily="34" charset="-120"/>
              </a:rPr>
              <a:t>Спасибо за внимание!</a:t>
            </a:r>
            <a:endParaRPr lang="en-US" sz="2000" dirty="0"/>
          </a:p>
        </p:txBody>
      </p:sp>
      <p:sp>
        <p:nvSpPr>
          <p:cNvPr id="14" name="Shape 12"/>
          <p:cNvSpPr/>
          <p:nvPr/>
        </p:nvSpPr>
        <p:spPr>
          <a:xfrm>
            <a:off x="8138160" y="1234440"/>
            <a:ext cx="3429000" cy="5029200"/>
          </a:xfrm>
          <a:prstGeom prst="roundRect">
            <a:avLst>
              <a:gd name="adj" fmla="val 2667"/>
            </a:avLst>
          </a:prstGeom>
          <a:solidFill>
            <a:srgbClr val="065A82">
              <a:alpha val="85000"/>
            </a:srgbClr>
          </a:solidFill>
          <a:ln/>
        </p:spPr>
      </p:sp>
      <p:sp>
        <p:nvSpPr>
          <p:cNvPr id="15" name="Text 13"/>
          <p:cNvSpPr txBox="1"/>
          <p:nvPr/>
        </p:nvSpPr>
        <p:spPr>
          <a:xfrm>
            <a:off x="8366760" y="1417320"/>
            <a:ext cx="30175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Источники</a:t>
            </a:r>
            <a:endParaRPr lang="en-US" sz="1500" dirty="0"/>
          </a:p>
        </p:txBody>
      </p:sp>
      <p:sp>
        <p:nvSpPr>
          <p:cNvPr id="16" name="Text 14"/>
          <p:cNvSpPr txBox="1"/>
          <p:nvPr/>
        </p:nvSpPr>
        <p:spPr>
          <a:xfrm>
            <a:off x="8366760" y="1874520"/>
            <a:ext cx="3017520" cy="868680"/>
          </a:xfrm>
          <a:prstGeom prst="rect">
            <a:avLst/>
          </a:prstGeom>
          <a:noFill/>
          <a:ln/>
        </p:spPr>
        <p:txBody>
          <a:bodyPr wrap="square" lIns="0" tIns="0" rIns="0" bIns="0" rtlCol="0" anchor="t"/>
          <a:lstStyle/>
          <a:p>
            <a:pPr marL="0" indent="0">
              <a:buNone/>
            </a:pPr>
            <a:r>
              <a:rPr lang="en-US" sz="1000" dirty="0">
                <a:solidFill>
                  <a:srgbClr val="CFE8F3"/>
                </a:solidFill>
                <a:latin typeface="Calibri" pitchFamily="34" charset="0"/>
                <a:ea typeface="Calibri" pitchFamily="34" charset="-122"/>
                <a:cs typeface="Calibri" pitchFamily="34" charset="-120"/>
              </a:rPr>
              <a:t>González-Martínez J. A. et al. Cloud computing and education: A state-of-the-art survey. Computers &amp; Education, 2015.</a:t>
            </a:r>
            <a:endParaRPr lang="en-US" sz="1000" dirty="0"/>
          </a:p>
        </p:txBody>
      </p:sp>
      <p:sp>
        <p:nvSpPr>
          <p:cNvPr id="17" name="Text 15"/>
          <p:cNvSpPr txBox="1"/>
          <p:nvPr/>
        </p:nvSpPr>
        <p:spPr>
          <a:xfrm>
            <a:off x="8366760" y="2834640"/>
            <a:ext cx="3017520" cy="868680"/>
          </a:xfrm>
          <a:prstGeom prst="rect">
            <a:avLst/>
          </a:prstGeom>
          <a:noFill/>
          <a:ln/>
        </p:spPr>
        <p:txBody>
          <a:bodyPr wrap="square" lIns="0" tIns="0" rIns="0" bIns="0" rtlCol="0" anchor="t"/>
          <a:lstStyle/>
          <a:p>
            <a:pPr marL="0" indent="0">
              <a:buNone/>
            </a:pPr>
            <a:r>
              <a:rPr lang="en-US" sz="1000" dirty="0">
                <a:solidFill>
                  <a:srgbClr val="CFE8F3"/>
                </a:solidFill>
                <a:latin typeface="Calibri" pitchFamily="34" charset="0"/>
                <a:ea typeface="Calibri" pitchFamily="34" charset="-122"/>
                <a:cs typeface="Calibri" pitchFamily="34" charset="-120"/>
              </a:rPr>
              <a:t>Baldassarre M. T. et al. Cloud Computing for Education: A Systematic Mapping Study. IEEE Trans. on Education, 2018.</a:t>
            </a:r>
            <a:endParaRPr lang="en-US" sz="1000" dirty="0"/>
          </a:p>
        </p:txBody>
      </p:sp>
      <p:sp>
        <p:nvSpPr>
          <p:cNvPr id="18" name="Text 16"/>
          <p:cNvSpPr txBox="1"/>
          <p:nvPr/>
        </p:nvSpPr>
        <p:spPr>
          <a:xfrm>
            <a:off x="8366760" y="3794760"/>
            <a:ext cx="3017520" cy="868680"/>
          </a:xfrm>
          <a:prstGeom prst="rect">
            <a:avLst/>
          </a:prstGeom>
          <a:noFill/>
          <a:ln/>
        </p:spPr>
        <p:txBody>
          <a:bodyPr wrap="square" lIns="0" tIns="0" rIns="0" bIns="0" rtlCol="0" anchor="t"/>
          <a:lstStyle/>
          <a:p>
            <a:pPr marL="0" indent="0">
              <a:buNone/>
            </a:pPr>
            <a:r>
              <a:rPr lang="en-US" sz="1000" dirty="0">
                <a:solidFill>
                  <a:srgbClr val="CFE8F3"/>
                </a:solidFill>
                <a:latin typeface="Calibri" pitchFamily="34" charset="0"/>
                <a:ea typeface="Calibri" pitchFamily="34" charset="-122"/>
                <a:cs typeface="Calibri" pitchFamily="34" charset="-120"/>
              </a:rPr>
              <a:t>Scalera M. et al. A Systematic Mapping Study in Cloud for Educational Innovation. Applied Sciences, 2020.</a:t>
            </a:r>
            <a:endParaRPr lang="en-US" sz="1000" dirty="0"/>
          </a:p>
        </p:txBody>
      </p:sp>
      <p:sp>
        <p:nvSpPr>
          <p:cNvPr id="19" name="Text 17"/>
          <p:cNvSpPr txBox="1"/>
          <p:nvPr/>
        </p:nvSpPr>
        <p:spPr>
          <a:xfrm>
            <a:off x="8366760" y="4754880"/>
            <a:ext cx="3017520" cy="868680"/>
          </a:xfrm>
          <a:prstGeom prst="rect">
            <a:avLst/>
          </a:prstGeom>
          <a:noFill/>
          <a:ln/>
        </p:spPr>
        <p:txBody>
          <a:bodyPr wrap="square" lIns="0" tIns="0" rIns="0" bIns="0" rtlCol="0" anchor="t"/>
          <a:lstStyle/>
          <a:p>
            <a:pPr marL="0" indent="0">
              <a:buNone/>
            </a:pPr>
            <a:r>
              <a:rPr lang="en-US" sz="1000" dirty="0">
                <a:solidFill>
                  <a:srgbClr val="CFE8F3"/>
                </a:solidFill>
                <a:latin typeface="Calibri" pitchFamily="34" charset="0"/>
                <a:ea typeface="Calibri" pitchFamily="34" charset="-122"/>
                <a:cs typeface="Calibri" pitchFamily="34" charset="-120"/>
              </a:rPr>
              <a:t>Google for Education — Google Cloud for Education.</a:t>
            </a:r>
            <a:endParaRPr lang="en-US" sz="1000" dirty="0"/>
          </a:p>
        </p:txBody>
      </p:sp>
      <p:sp>
        <p:nvSpPr>
          <p:cNvPr id="20" name="Text 18"/>
          <p:cNvSpPr txBox="1"/>
          <p:nvPr/>
        </p:nvSpPr>
        <p:spPr>
          <a:xfrm>
            <a:off x="11457432" y="6400800"/>
            <a:ext cx="457200" cy="274320"/>
          </a:xfrm>
          <a:prstGeom prst="rect">
            <a:avLst/>
          </a:prstGeom>
          <a:noFill/>
          <a:ln/>
        </p:spPr>
        <p:txBody>
          <a:bodyPr wrap="square" lIns="0" tIns="0" rIns="0" bIns="0" rtlCol="0" anchor="ctr"/>
          <a:lstStyle/>
          <a:p>
            <a:pPr marL="0" indent="0" algn="r">
              <a:buNone/>
            </a:pPr>
            <a:r>
              <a:rPr lang="en-US" sz="1000" dirty="0">
                <a:solidFill>
                  <a:srgbClr val="CFE8F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1485</Words>
  <Application>Microsoft Office PowerPoint</Application>
  <PresentationFormat>Широкоэкранный</PresentationFormat>
  <Paragraphs>151</Paragraphs>
  <Slides>10</Slides>
  <Notes>10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10</vt:i4>
      </vt:variant>
    </vt:vector>
  </HeadingPairs>
  <TitlesOfParts>
    <vt:vector size="14" baseType="lpstr">
      <vt:lpstr>Arial</vt:lpstr>
      <vt:lpstr>Calibri</vt:lpstr>
      <vt:lpstr>Cambria</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Fiodor Garizan</cp:lastModifiedBy>
  <cp:revision>2</cp:revision>
  <dcterms:created xsi:type="dcterms:W3CDTF">2026-09-08T10:32:05Z</dcterms:created>
  <dcterms:modified xsi:type="dcterms:W3CDTF">2026-09-08T10:49:37Z</dcterms:modified>
</cp:coreProperties>
</file>